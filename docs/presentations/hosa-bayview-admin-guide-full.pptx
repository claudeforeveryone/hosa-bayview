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e538946-3301-f018-db1f-88b6dbbcf9a5}">
          <p14:sldIdLst>
            <p14:sldId id="256"/>
            <p14:sldId id="257"/>
          </p14:sldIdLst>
        </p14:section>
        <p14:section name="The basics" id="{be317d65-4a17-add1-bf7f-c35fd816753a}">
          <p14:sldIdLst>
            <p14:sldId id="258"/>
            <p14:sldId id="259"/>
            <p14:sldId id="260"/>
          </p14:sldIdLst>
        </p14:section>
        <p14:section name="Event rooms" id="{1312a501-a9cc-9c5b-9e93-2e3158d81989}">
          <p14:sldIdLst>
            <p14:sldId id="261"/>
            <p14:sldId id="262"/>
            <p14:sldId id="263"/>
          </p14:sldIdLst>
        </p14:section>
        <p14:section name="Tests and flashcards" id="{361049ea-336b-f37e-09a9-6b4203772d1f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hapter tools" id="{3c69354a-481b-8609-7c15-e4cb1e0598f9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Wrap up" id="{9689c542-8551-c0aa-cd44-f28869c2e2ad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F2440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0F2440"/>
                </a:solidFill>
                <a:latin typeface="+mj-lt"/>
              </a:rPr>
              <a:t>Elo points per question answered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Elo points</c:v>
                </c:pt>
              </c:strCache>
            </c:strRef>
          </c:tx>
          <c:spPr>
            <a:solidFill>
              <a:srgbClr val="1E3D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F24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First try, right</c:v>
                  </c:pt>
                  <c:pt idx="1">
                    <c:v>First try, wrong</c:v>
                  </c:pt>
                  <c:pt idx="2">
                    <c:v>Again, right</c:v>
                  </c:pt>
                  <c:pt idx="3">
                    <c:v>Again, wrong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F24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50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tour of everything admins can do on the site. Grab your phone or laptop and log in at hosabayview.com so you can follow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parts. The big one is part 3: tests, including how to send me past tests through Google Drive.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signs up as a Trainee. Execs can flip people to Trainer from the admin page. Making someone an Exec is locked to the chapter leads. There's also a 'Jobless' role for people with no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Laptop gets a sidebar, phone gets a bottom bar. Most members use phones, so it's worth showing them the install steps in Settings &gt; Phone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trainers and execs can make rooms. Codes are 6 characters and skip look-alike letters like O/0 and I/1, so they're easy to read off a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tab. The Grades and Settings tabs are only for whoever runs the room, and execs.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choice only. Editing and deleting single questions is right there on the edit page. Deleting a whole test also deletes everyone's attempts, so be careful.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 straight out of a past test PDF. Page footers like 'Page 2 of 9' get skipped automatically. Up to 500 questions per paste.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easiest way to get tests onto the site. Don't worry about the paste format, just drop the file in the folder with a clear name and I'll handle the bulk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live under the test's Details, with the rarer ones behind 'More options'. Hidden-answer tests also don't leak the key through Elo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Members earn points for studying other people's cards, so good shared decks get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chapter announcements for anything everyone needs. Calendar events send a reminder the morning 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Storage is shared across the whole site, and the admin page shows how much is used. Put big videos on Drive or YouTube and link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chapter's paper sign-in sheet, but live. Meeting dates get added under Season sheet &gt; Manage roster.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 of the admin page has chapter totals and storage used. Use bans and removals rarely; warnings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 rewards trying new questions most. Answering the same question again still earns a little, once per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Battles are great for meetings: put the code on the projector. BLC mock competitions are built but switched off on the site for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things most worth remembering.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Remind everyone where the Drive folder link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45720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154680"/>
            <a:ext cx="67665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6217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hosabayview.com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hosabayview.com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0-1.png"/><Relationship Id="rId3" Type="http://schemas.openxmlformats.org/officeDocument/2006/relationships/image" Target="../media/image-20-2.png"/><Relationship Id="rId4" Type="http://schemas.openxmlformats.org/officeDocument/2006/relationships/image" Target="../media/image-20-3.png"/><Relationship Id="rId5" Type="http://schemas.openxmlformats.org/officeDocument/2006/relationships/image" Target="../media/image-20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hosabayview.com" TargetMode="Externa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4937760" cy="4645106"/>
          </a:xfrm>
          <a:prstGeom prst="rect">
            <a:avLst/>
          </a:prstGeom>
        </p:spPr>
      </p:pic>
      <p:sp>
        <p:nvSpPr>
          <p:cNvPr id="3" name="text-1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TRAINING</a:t>
            </a:r>
            <a:endParaRPr lang="en-US" sz="1400" dirty="0"/>
          </a:p>
        </p:txBody>
      </p:sp>
      <p:sp>
        <p:nvSpPr>
          <p:cNvPr id="4" name="text-2"/>
          <p:cNvSpPr txBox="1"/>
          <p:nvPr/>
        </p:nvSpPr>
        <p:spPr>
          <a:xfrm>
            <a:off x="6309360" y="18288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run HOSA Bayview online</a:t>
            </a:r>
            <a:endParaRPr lang="en-US" sz="4400" dirty="0"/>
          </a:p>
        </p:txBody>
      </p:sp>
      <p:sp>
        <p:nvSpPr>
          <p:cNvPr id="5" name="text-3"/>
          <p:cNvSpPr txBox="1"/>
          <p:nvPr/>
        </p:nvSpPr>
        <p:spPr>
          <a:xfrm>
            <a:off x="6309360" y="3749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Every feature an executive or trainer can use, and how to use it.</a:t>
            </a:r>
            <a:endParaRPr lang="en-US" sz="1800" dirty="0"/>
          </a:p>
        </p:txBody>
      </p:sp>
      <p:sp>
        <p:nvSpPr>
          <p:cNvPr id="6" name="url-4"/>
          <p:cNvSpPr/>
          <p:nvPr/>
        </p:nvSpPr>
        <p:spPr>
          <a:xfrm>
            <a:off x="6309360" y="4617720"/>
            <a:ext cx="301752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-5">
            <a:hlinkClick r:id="rId2" tooltip=""/>
          </p:cNvPr>
          <p:cNvSpPr txBox="1"/>
          <p:nvPr/>
        </p:nvSpPr>
        <p:spPr>
          <a:xfrm>
            <a:off x="6309360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hosabayview.com</a:t>
            </a:r>
            <a:endParaRPr lang="en-US" sz="1800" dirty="0"/>
          </a:p>
        </p:txBody>
      </p:sp>
      <p:sp>
        <p:nvSpPr>
          <p:cNvPr id="8" name="!!ecg"/>
          <p:cNvSpPr/>
          <p:nvPr/>
        </p:nvSpPr>
        <p:spPr>
          <a:xfrm>
            <a:off x="0" y="5715000"/>
            <a:ext cx="12191695" cy="822960"/>
          </a:xfrm>
          <a:custGeom>
            <a:avLst/>
            <a:gdLst/>
            <a:ahLst/>
            <a:cxnLst/>
            <a:rect l="l" t="t" r="r" b="b"/>
            <a:pathLst>
              <a:path w="12191695" h="822960">
                <a:moveTo>
                  <a:pt x="0" y="510235"/>
                </a:moveTo>
                <a:lnTo>
                  <a:pt x="3657509" y="510235"/>
                </a:lnTo>
                <a:lnTo>
                  <a:pt x="4145176" y="427939"/>
                </a:lnTo>
                <a:lnTo>
                  <a:pt x="4632844" y="510235"/>
                </a:lnTo>
                <a:lnTo>
                  <a:pt x="5364346" y="510235"/>
                </a:lnTo>
                <a:lnTo>
                  <a:pt x="5730097" y="608990"/>
                </a:lnTo>
                <a:lnTo>
                  <a:pt x="6217765" y="16459"/>
                </a:lnTo>
                <a:lnTo>
                  <a:pt x="6766391" y="822960"/>
                </a:lnTo>
                <a:lnTo>
                  <a:pt x="7193100" y="510235"/>
                </a:lnTo>
                <a:lnTo>
                  <a:pt x="8046519" y="510235"/>
                </a:lnTo>
                <a:lnTo>
                  <a:pt x="8656104" y="362102"/>
                </a:lnTo>
                <a:lnTo>
                  <a:pt x="9387605" y="510235"/>
                </a:lnTo>
                <a:lnTo>
                  <a:pt x="12191695" y="510235"/>
                </a:lnTo>
              </a:path>
            </a:pathLst>
          </a:custGeom>
          <a:ln w="38100">
            <a:solidFill>
              <a:schemeClr val="accent2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6"/>
          <p:cNvSpPr/>
          <p:nvPr/>
        </p:nvSpPr>
        <p:spPr>
          <a:xfrm>
            <a:off x="548640" y="1965960"/>
            <a:ext cx="2602154" cy="356616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ile-7"/>
          <p:cNvSpPr/>
          <p:nvPr/>
        </p:nvSpPr>
        <p:spPr>
          <a:xfrm>
            <a:off x="822960" y="2240280"/>
            <a:ext cx="731520" cy="7315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8" name="icon-8" descr="Us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2401214"/>
            <a:ext cx="409651" cy="409651"/>
          </a:xfrm>
          <a:prstGeom prst="rect">
            <a:avLst/>
          </a:prstGeom>
        </p:spPr>
      </p:pic>
      <p:sp>
        <p:nvSpPr>
          <p:cNvPr id="9" name="text-9"/>
          <p:cNvSpPr txBox="1"/>
          <p:nvPr/>
        </p:nvSpPr>
        <p:spPr>
          <a:xfrm>
            <a:off x="1737360" y="225856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-10"/>
          <p:cNvSpPr txBox="1"/>
          <p:nvPr/>
        </p:nvSpPr>
        <p:spPr>
          <a:xfrm>
            <a:off x="822960" y="324612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2100" dirty="0"/>
          </a:p>
        </p:txBody>
      </p:sp>
      <p:sp>
        <p:nvSpPr>
          <p:cNvPr id="11" name="text-11"/>
          <p:cNvSpPr txBox="1"/>
          <p:nvPr/>
        </p:nvSpPr>
        <p:spPr>
          <a:xfrm>
            <a:off x="822960" y="4114800"/>
            <a:ext cx="205351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Roles, and how to get around the site on a laptop or phone.</a:t>
            </a:r>
            <a:endParaRPr lang="en-US" sz="1600" dirty="0"/>
          </a:p>
        </p:txBody>
      </p:sp>
      <p:sp>
        <p:nvSpPr>
          <p:cNvPr id="12" name="box-12"/>
          <p:cNvSpPr/>
          <p:nvPr/>
        </p:nvSpPr>
        <p:spPr>
          <a:xfrm>
            <a:off x="3379394" y="1965960"/>
            <a:ext cx="2602154" cy="356616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3" name="tile-13"/>
          <p:cNvSpPr/>
          <p:nvPr/>
        </p:nvSpPr>
        <p:spPr>
          <a:xfrm>
            <a:off x="3653714" y="2240280"/>
            <a:ext cx="731520" cy="7315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4" name="icon-14" descr="HeartPul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648" y="2401214"/>
            <a:ext cx="409651" cy="409651"/>
          </a:xfrm>
          <a:prstGeom prst="rect">
            <a:avLst/>
          </a:prstGeom>
        </p:spPr>
      </p:pic>
      <p:sp>
        <p:nvSpPr>
          <p:cNvPr id="15" name="text-15"/>
          <p:cNvSpPr txBox="1"/>
          <p:nvPr/>
        </p:nvSpPr>
        <p:spPr>
          <a:xfrm>
            <a:off x="4568114" y="225856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-16"/>
          <p:cNvSpPr txBox="1"/>
          <p:nvPr/>
        </p:nvSpPr>
        <p:spPr>
          <a:xfrm>
            <a:off x="3653714" y="324612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rooms</a:t>
            </a:r>
            <a:endParaRPr lang="en-US" sz="2100" dirty="0"/>
          </a:p>
        </p:txBody>
      </p:sp>
      <p:sp>
        <p:nvSpPr>
          <p:cNvPr id="17" name="text-17"/>
          <p:cNvSpPr txBox="1"/>
          <p:nvPr/>
        </p:nvSpPr>
        <p:spPr>
          <a:xfrm>
            <a:off x="3653714" y="4114800"/>
            <a:ext cx="205351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Make a room for each HOSA event and get members in.</a:t>
            </a:r>
            <a:endParaRPr lang="en-US" sz="1600" dirty="0"/>
          </a:p>
        </p:txBody>
      </p:sp>
      <p:sp>
        <p:nvSpPr>
          <p:cNvPr id="18" name="box-18"/>
          <p:cNvSpPr/>
          <p:nvPr/>
        </p:nvSpPr>
        <p:spPr>
          <a:xfrm>
            <a:off x="6210148" y="1965960"/>
            <a:ext cx="2602154" cy="356616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9" name="tile-19"/>
          <p:cNvSpPr/>
          <p:nvPr/>
        </p:nvSpPr>
        <p:spPr>
          <a:xfrm>
            <a:off x="6484468" y="2240280"/>
            <a:ext cx="731520" cy="7315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0" name="icon-20" descr="ClipboardLis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402" y="2401214"/>
            <a:ext cx="409651" cy="409651"/>
          </a:xfrm>
          <a:prstGeom prst="rect">
            <a:avLst/>
          </a:prstGeom>
        </p:spPr>
      </p:pic>
      <p:sp>
        <p:nvSpPr>
          <p:cNvPr id="21" name="text-21"/>
          <p:cNvSpPr txBox="1"/>
          <p:nvPr/>
        </p:nvSpPr>
        <p:spPr>
          <a:xfrm>
            <a:off x="7398868" y="225856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22" name="text-22"/>
          <p:cNvSpPr txBox="1"/>
          <p:nvPr/>
        </p:nvSpPr>
        <p:spPr>
          <a:xfrm>
            <a:off x="6484468" y="324612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and flashcards</a:t>
            </a:r>
            <a:endParaRPr lang="en-US" sz="2100" dirty="0"/>
          </a:p>
        </p:txBody>
      </p:sp>
      <p:sp>
        <p:nvSpPr>
          <p:cNvPr id="23" name="text-23"/>
          <p:cNvSpPr txBox="1"/>
          <p:nvPr/>
        </p:nvSpPr>
        <p:spPr>
          <a:xfrm>
            <a:off x="6484468" y="4114800"/>
            <a:ext cx="205351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Build tests, paste in past tests, and the Google Drive shortcut.</a:t>
            </a:r>
            <a:endParaRPr lang="en-US" sz="1600" dirty="0"/>
          </a:p>
        </p:txBody>
      </p:sp>
      <p:sp>
        <p:nvSpPr>
          <p:cNvPr id="24" name="box-24"/>
          <p:cNvSpPr/>
          <p:nvPr/>
        </p:nvSpPr>
        <p:spPr>
          <a:xfrm>
            <a:off x="9040901" y="1965960"/>
            <a:ext cx="2602154" cy="356616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5" name="tile-25"/>
          <p:cNvSpPr/>
          <p:nvPr/>
        </p:nvSpPr>
        <p:spPr>
          <a:xfrm>
            <a:off x="9315221" y="2240280"/>
            <a:ext cx="731520" cy="7315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6" name="icon-26" descr="Megaphon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6156" y="2401214"/>
            <a:ext cx="409651" cy="409651"/>
          </a:xfrm>
          <a:prstGeom prst="rect">
            <a:avLst/>
          </a:prstGeom>
        </p:spPr>
      </p:pic>
      <p:sp>
        <p:nvSpPr>
          <p:cNvPr id="27" name="text-27"/>
          <p:cNvSpPr txBox="1"/>
          <p:nvPr/>
        </p:nvSpPr>
        <p:spPr>
          <a:xfrm>
            <a:off x="10229621" y="225856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28" name="text-28"/>
          <p:cNvSpPr txBox="1"/>
          <p:nvPr/>
        </p:nvSpPr>
        <p:spPr>
          <a:xfrm>
            <a:off x="9315221" y="324612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tools</a:t>
            </a:r>
            <a:endParaRPr lang="en-US" sz="2100" dirty="0"/>
          </a:p>
        </p:txBody>
      </p:sp>
      <p:sp>
        <p:nvSpPr>
          <p:cNvPr id="29" name="text-29"/>
          <p:cNvSpPr txBox="1"/>
          <p:nvPr/>
        </p:nvSpPr>
        <p:spPr>
          <a:xfrm>
            <a:off x="9315221" y="4114800"/>
            <a:ext cx="205351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Announcements, calendar, attendance, the admin page and stats.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1546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Who can do what, and where everything lives.</a:t>
            </a:r>
            <a:endParaRPr lang="en-US" sz="1800" dirty="0"/>
          </a:p>
        </p:txBody>
      </p:sp>
      <p:pic>
        <p:nvPicPr>
          <p:cNvPr id="5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143000"/>
            <a:ext cx="3931920" cy="3698881"/>
          </a:xfrm>
          <a:prstGeom prst="rect">
            <a:avLst/>
          </a:prstGeom>
        </p:spPr>
      </p:pic>
      <p:sp>
        <p:nvSpPr>
          <p:cNvPr id="6" name="!!ecg"/>
          <p:cNvSpPr/>
          <p:nvPr/>
        </p:nvSpPr>
        <p:spPr>
          <a:xfrm>
            <a:off x="0" y="5715000"/>
            <a:ext cx="12191695" cy="822960"/>
          </a:xfrm>
          <a:custGeom>
            <a:avLst/>
            <a:gdLst/>
            <a:ahLst/>
            <a:cxnLst/>
            <a:rect l="l" t="t" r="r" b="b"/>
            <a:pathLst>
              <a:path w="12191695" h="822960">
                <a:moveTo>
                  <a:pt x="0" y="510235"/>
                </a:moveTo>
                <a:lnTo>
                  <a:pt x="3657509" y="510235"/>
                </a:lnTo>
                <a:lnTo>
                  <a:pt x="4145176" y="427939"/>
                </a:lnTo>
                <a:lnTo>
                  <a:pt x="4632844" y="510235"/>
                </a:lnTo>
                <a:lnTo>
                  <a:pt x="5364346" y="510235"/>
                </a:lnTo>
                <a:lnTo>
                  <a:pt x="5730097" y="608990"/>
                </a:lnTo>
                <a:lnTo>
                  <a:pt x="6217765" y="16459"/>
                </a:lnTo>
                <a:lnTo>
                  <a:pt x="6766391" y="822960"/>
                </a:lnTo>
                <a:lnTo>
                  <a:pt x="7193100" y="510235"/>
                </a:lnTo>
                <a:lnTo>
                  <a:pt x="8046519" y="510235"/>
                </a:lnTo>
                <a:lnTo>
                  <a:pt x="8656104" y="362102"/>
                </a:lnTo>
                <a:lnTo>
                  <a:pt x="9387605" y="510235"/>
                </a:lnTo>
                <a:lnTo>
                  <a:pt x="12191695" y="510235"/>
                </a:lnTo>
              </a:path>
            </a:pathLst>
          </a:custGeom>
          <a:ln w="38100">
            <a:solidFill>
              <a:schemeClr val="accent2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roles, three levels of power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30"/>
          <p:cNvSpPr/>
          <p:nvPr/>
        </p:nvSpPr>
        <p:spPr>
          <a:xfrm>
            <a:off x="548640" y="1737360"/>
            <a:ext cx="3566160" cy="3886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ile-31"/>
          <p:cNvSpPr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8" name="icon-32" descr="Shield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2162556"/>
            <a:ext cx="384048" cy="384048"/>
          </a:xfrm>
          <a:prstGeom prst="rect">
            <a:avLst/>
          </a:prstGeom>
        </p:spPr>
      </p:pic>
      <p:sp>
        <p:nvSpPr>
          <p:cNvPr id="9" name="text-33"/>
          <p:cNvSpPr txBox="1"/>
          <p:nvPr/>
        </p:nvSpPr>
        <p:spPr>
          <a:xfrm>
            <a:off x="1691640" y="2011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2200" dirty="0"/>
          </a:p>
        </p:txBody>
      </p:sp>
      <p:sp>
        <p:nvSpPr>
          <p:cNvPr id="10" name="text-34"/>
          <p:cNvSpPr txBox="1"/>
          <p:nvPr/>
        </p:nvSpPr>
        <p:spPr>
          <a:xfrm>
            <a:off x="1691640" y="2395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Admin. Sees everything.</a:t>
            </a:r>
            <a:endParaRPr lang="en-US" sz="1400" dirty="0"/>
          </a:p>
        </p:txBody>
      </p:sp>
      <p:sp>
        <p:nvSpPr>
          <p:cNvPr id="11" name="text-35"/>
          <p:cNvSpPr txBox="1"/>
          <p:nvPr/>
        </p:nvSpPr>
        <p:spPr>
          <a:xfrm>
            <a:off x="822960" y="297180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member, event, test, deck and file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Change Trainee ↔ Trainer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Warn, ban or remove members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 chapter announcements and events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Take attendance for all events</a:t>
            </a:r>
            <a:endParaRPr lang="en-US" sz="1500" dirty="0"/>
          </a:p>
        </p:txBody>
      </p:sp>
      <p:sp>
        <p:nvSpPr>
          <p:cNvPr id="12" name="box-36"/>
          <p:cNvSpPr/>
          <p:nvPr/>
        </p:nvSpPr>
        <p:spPr>
          <a:xfrm>
            <a:off x="4315968" y="1737360"/>
            <a:ext cx="3566160" cy="3886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3" name="tile-37"/>
          <p:cNvSpPr/>
          <p:nvPr/>
        </p:nvSpPr>
        <p:spPr>
          <a:xfrm>
            <a:off x="4590288" y="2011680"/>
            <a:ext cx="685800" cy="68580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14" name="icon-38" descr="GraduationCa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164" y="2162556"/>
            <a:ext cx="384048" cy="384048"/>
          </a:xfrm>
          <a:prstGeom prst="rect">
            <a:avLst/>
          </a:prstGeom>
        </p:spPr>
      </p:pic>
      <p:sp>
        <p:nvSpPr>
          <p:cNvPr id="15" name="text-39"/>
          <p:cNvSpPr txBox="1"/>
          <p:nvPr/>
        </p:nvSpPr>
        <p:spPr>
          <a:xfrm>
            <a:off x="5458968" y="2011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</a:t>
            </a:r>
            <a:endParaRPr lang="en-US" sz="2200" dirty="0"/>
          </a:p>
        </p:txBody>
      </p:sp>
      <p:sp>
        <p:nvSpPr>
          <p:cNvPr id="16" name="text-40"/>
          <p:cNvSpPr txBox="1"/>
          <p:nvPr/>
        </p:nvSpPr>
        <p:spPr>
          <a:xfrm>
            <a:off x="5458968" y="2395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Runs their own events.</a:t>
            </a:r>
            <a:endParaRPr lang="en-US" sz="1400" dirty="0"/>
          </a:p>
        </p:txBody>
      </p:sp>
      <p:sp>
        <p:nvSpPr>
          <p:cNvPr id="17" name="text-41"/>
          <p:cNvSpPr txBox="1"/>
          <p:nvPr/>
        </p:nvSpPr>
        <p:spPr>
          <a:xfrm>
            <a:off x="4590288" y="297180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Makes event rooms and join codes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Adds tests, cards, files and links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Sees grades for their own members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Posts event news and class dates</a:t>
            </a:r>
            <a:endParaRPr lang="en-US" sz="1500" dirty="0"/>
          </a:p>
        </p:txBody>
      </p:sp>
      <p:sp>
        <p:nvSpPr>
          <p:cNvPr id="18" name="box-42"/>
          <p:cNvSpPr/>
          <p:nvPr/>
        </p:nvSpPr>
        <p:spPr>
          <a:xfrm>
            <a:off x="8083296" y="1737360"/>
            <a:ext cx="3566160" cy="3886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9" name="tile-43"/>
          <p:cNvSpPr/>
          <p:nvPr/>
        </p:nvSpPr>
        <p:spPr>
          <a:xfrm>
            <a:off x="8357616" y="2011680"/>
            <a:ext cx="685800" cy="68580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20" name="icon-44" descr="Us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492" y="2162556"/>
            <a:ext cx="384048" cy="384048"/>
          </a:xfrm>
          <a:prstGeom prst="rect">
            <a:avLst/>
          </a:prstGeom>
        </p:spPr>
      </p:pic>
      <p:sp>
        <p:nvSpPr>
          <p:cNvPr id="21" name="text-45"/>
          <p:cNvSpPr txBox="1"/>
          <p:nvPr/>
        </p:nvSpPr>
        <p:spPr>
          <a:xfrm>
            <a:off x="9226296" y="2011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Trainee</a:t>
            </a:r>
            <a:endParaRPr lang="en-US" sz="2200" dirty="0"/>
          </a:p>
        </p:txBody>
      </p:sp>
      <p:sp>
        <p:nvSpPr>
          <p:cNvPr id="22" name="text-46"/>
          <p:cNvSpPr txBox="1"/>
          <p:nvPr/>
        </p:nvSpPr>
        <p:spPr>
          <a:xfrm>
            <a:off x="9226296" y="2395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Every new account.</a:t>
            </a:r>
            <a:endParaRPr lang="en-US" sz="1400" dirty="0"/>
          </a:p>
        </p:txBody>
      </p:sp>
      <p:sp>
        <p:nvSpPr>
          <p:cNvPr id="23" name="text-47"/>
          <p:cNvSpPr txBox="1"/>
          <p:nvPr/>
        </p:nvSpPr>
        <p:spPr>
          <a:xfrm>
            <a:off x="8357616" y="297180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Joins events with a 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Takes tests, studies cards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Makes their own decks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Climbs the leaderboard</a:t>
            </a:r>
            <a:endParaRPr lang="en-US" sz="1500" dirty="0"/>
          </a:p>
        </p:txBody>
      </p:sp>
      <p:sp>
        <p:nvSpPr>
          <p:cNvPr id="24" name="text-48"/>
          <p:cNvSpPr txBox="1"/>
          <p:nvPr/>
        </p:nvSpPr>
        <p:spPr>
          <a:xfrm>
            <a:off x="548640" y="5760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Only the chapter leads can make someone an Executive. Any exec can switch people between Trainee and Trainer.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around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49"/>
          <p:cNvSpPr/>
          <p:nvPr/>
        </p:nvSpPr>
        <p:spPr>
          <a:xfrm>
            <a:off x="548640" y="1691640"/>
            <a:ext cx="3017520" cy="443484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ext-50"/>
          <p:cNvSpPr txBox="1"/>
          <p:nvPr/>
        </p:nvSpPr>
        <p:spPr>
          <a:xfrm>
            <a:off x="822960" y="1892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LAPTOP: SIDEBAR</a:t>
            </a:r>
            <a:endParaRPr lang="en-US" sz="1100" dirty="0"/>
          </a:p>
        </p:txBody>
      </p:sp>
      <p:sp>
        <p:nvSpPr>
          <p:cNvPr id="8" name="text-51"/>
          <p:cNvSpPr txBox="1"/>
          <p:nvPr/>
        </p:nvSpPr>
        <p:spPr>
          <a:xfrm>
            <a:off x="822960" y="2286000"/>
            <a:ext cx="2560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Home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Events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Career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Profile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Chapter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Announcements · Calendar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Leaderboard · Resources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Your events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Admin · Members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More: Settings, Attendance, Log out</a:t>
            </a:r>
            <a:endParaRPr lang="en-US" sz="1500" dirty="0"/>
          </a:p>
        </p:txBody>
      </p:sp>
      <p:sp>
        <p:nvSpPr>
          <p:cNvPr id="9" name="box-52"/>
          <p:cNvSpPr/>
          <p:nvPr/>
        </p:nvSpPr>
        <p:spPr>
          <a:xfrm>
            <a:off x="3977640" y="1691640"/>
            <a:ext cx="2286000" cy="44348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0" name="bar-53"/>
          <p:cNvSpPr/>
          <p:nvPr/>
        </p:nvSpPr>
        <p:spPr>
          <a:xfrm>
            <a:off x="3977640" y="1691640"/>
            <a:ext cx="2286000" cy="50292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1" name="text-54"/>
          <p:cNvSpPr txBox="1"/>
          <p:nvPr/>
        </p:nvSpPr>
        <p:spPr>
          <a:xfrm>
            <a:off x="41148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logo · bell · menu</a:t>
            </a:r>
            <a:endParaRPr lang="en-US" sz="1200" dirty="0"/>
          </a:p>
        </p:txBody>
      </p:sp>
      <p:sp>
        <p:nvSpPr>
          <p:cNvPr id="12" name="text-55"/>
          <p:cNvSpPr txBox="1"/>
          <p:nvPr/>
        </p:nvSpPr>
        <p:spPr>
          <a:xfrm>
            <a:off x="416052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PHONE</a:t>
            </a:r>
            <a:endParaRPr lang="en-US" sz="1100" dirty="0"/>
          </a:p>
        </p:txBody>
      </p:sp>
      <p:sp>
        <p:nvSpPr>
          <p:cNvPr id="13" name="text-56"/>
          <p:cNvSpPr txBox="1"/>
          <p:nvPr/>
        </p:nvSpPr>
        <p:spPr>
          <a:xfrm>
            <a:off x="4160520" y="27432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Bottom bar for the big five. More opens everything else.</a:t>
            </a:r>
            <a:endParaRPr lang="en-US" sz="1400" dirty="0"/>
          </a:p>
        </p:txBody>
      </p:sp>
      <p:sp>
        <p:nvSpPr>
          <p:cNvPr id="14" name="mockrow-57"/>
          <p:cNvSpPr/>
          <p:nvPr/>
        </p:nvSpPr>
        <p:spPr>
          <a:xfrm>
            <a:off x="4160520" y="3840480"/>
            <a:ext cx="1920240" cy="3657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5" name="mockrow-58"/>
          <p:cNvSpPr/>
          <p:nvPr/>
        </p:nvSpPr>
        <p:spPr>
          <a:xfrm>
            <a:off x="4160520" y="4343400"/>
            <a:ext cx="1920240" cy="3657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mockrow-59"/>
          <p:cNvSpPr/>
          <p:nvPr/>
        </p:nvSpPr>
        <p:spPr>
          <a:xfrm>
            <a:off x="4160520" y="4846320"/>
            <a:ext cx="1920240" cy="3657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tabs-60"/>
          <p:cNvSpPr/>
          <p:nvPr/>
        </p:nvSpPr>
        <p:spPr>
          <a:xfrm>
            <a:off x="3977640" y="5349240"/>
            <a:ext cx="2286000" cy="77724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</p:spPr>
      </p:sp>
      <p:pic>
        <p:nvPicPr>
          <p:cNvPr id="18" name="tabicon-61" descr="H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5440680"/>
            <a:ext cx="274320" cy="274320"/>
          </a:xfrm>
          <a:prstGeom prst="rect">
            <a:avLst/>
          </a:prstGeom>
        </p:spPr>
      </p:pic>
      <p:sp>
        <p:nvSpPr>
          <p:cNvPr id="19" name="text-62"/>
          <p:cNvSpPr txBox="1"/>
          <p:nvPr/>
        </p:nvSpPr>
        <p:spPr>
          <a:xfrm>
            <a:off x="3977640" y="5760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Home</a:t>
            </a:r>
            <a:endParaRPr lang="en-US" sz="900" dirty="0"/>
          </a:p>
        </p:txBody>
      </p:sp>
      <p:pic>
        <p:nvPicPr>
          <p:cNvPr id="20" name="tabicon-63" descr="Ev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5440680"/>
            <a:ext cx="274320" cy="274320"/>
          </a:xfrm>
          <a:prstGeom prst="rect">
            <a:avLst/>
          </a:prstGeom>
        </p:spPr>
      </p:pic>
      <p:sp>
        <p:nvSpPr>
          <p:cNvPr id="21" name="text-64"/>
          <p:cNvSpPr txBox="1"/>
          <p:nvPr/>
        </p:nvSpPr>
        <p:spPr>
          <a:xfrm>
            <a:off x="4434840" y="5760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Events</a:t>
            </a:r>
            <a:endParaRPr lang="en-US" sz="900" dirty="0"/>
          </a:p>
        </p:txBody>
      </p:sp>
      <p:pic>
        <p:nvPicPr>
          <p:cNvPr id="22" name="tabicon-65" descr="Cal.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5440680"/>
            <a:ext cx="274320" cy="274320"/>
          </a:xfrm>
          <a:prstGeom prst="rect">
            <a:avLst/>
          </a:prstGeom>
        </p:spPr>
      </p:pic>
      <p:sp>
        <p:nvSpPr>
          <p:cNvPr id="23" name="text-66"/>
          <p:cNvSpPr txBox="1"/>
          <p:nvPr/>
        </p:nvSpPr>
        <p:spPr>
          <a:xfrm>
            <a:off x="4892040" y="5760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Cal.</a:t>
            </a:r>
            <a:endParaRPr lang="en-US" sz="900" dirty="0"/>
          </a:p>
        </p:txBody>
      </p:sp>
      <p:pic>
        <p:nvPicPr>
          <p:cNvPr id="24" name="tabicon-67" descr="Profi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5440680"/>
            <a:ext cx="274320" cy="274320"/>
          </a:xfrm>
          <a:prstGeom prst="rect">
            <a:avLst/>
          </a:prstGeom>
        </p:spPr>
      </p:pic>
      <p:sp>
        <p:nvSpPr>
          <p:cNvPr id="25" name="text-68"/>
          <p:cNvSpPr txBox="1"/>
          <p:nvPr/>
        </p:nvSpPr>
        <p:spPr>
          <a:xfrm>
            <a:off x="5349240" y="5760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Profile</a:t>
            </a:r>
            <a:endParaRPr lang="en-US" sz="900" dirty="0"/>
          </a:p>
        </p:txBody>
      </p:sp>
      <p:pic>
        <p:nvPicPr>
          <p:cNvPr id="26" name="tabicon-69" descr="Mo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5440680"/>
            <a:ext cx="274320" cy="274320"/>
          </a:xfrm>
          <a:prstGeom prst="rect">
            <a:avLst/>
          </a:prstGeom>
        </p:spPr>
      </p:pic>
      <p:sp>
        <p:nvSpPr>
          <p:cNvPr id="27" name="text-70"/>
          <p:cNvSpPr txBox="1"/>
          <p:nvPr/>
        </p:nvSpPr>
        <p:spPr>
          <a:xfrm>
            <a:off x="5806440" y="5760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More</a:t>
            </a:r>
            <a:endParaRPr lang="en-US" sz="900" dirty="0"/>
          </a:p>
        </p:txBody>
      </p:sp>
      <p:sp>
        <p:nvSpPr>
          <p:cNvPr id="28" name="tile-71"/>
          <p:cNvSpPr/>
          <p:nvPr/>
        </p:nvSpPr>
        <p:spPr>
          <a:xfrm>
            <a:off x="6675120" y="1783080"/>
            <a:ext cx="640080" cy="64008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29" name="icon-72" descr="Bell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938" y="1923898"/>
            <a:ext cx="358445" cy="358445"/>
          </a:xfrm>
          <a:prstGeom prst="rect">
            <a:avLst/>
          </a:prstGeom>
        </p:spPr>
      </p:pic>
      <p:sp>
        <p:nvSpPr>
          <p:cNvPr id="30" name="text-73"/>
          <p:cNvSpPr txBox="1"/>
          <p:nvPr/>
        </p:nvSpPr>
        <p:spPr>
          <a:xfrm>
            <a:off x="7498080" y="1764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bell</a:t>
            </a:r>
            <a:endParaRPr lang="en-US" sz="1800" dirty="0"/>
          </a:p>
        </p:txBody>
      </p:sp>
      <p:sp>
        <p:nvSpPr>
          <p:cNvPr id="31" name="text-74"/>
          <p:cNvSpPr txBox="1"/>
          <p:nvPr/>
        </p:nvSpPr>
        <p:spPr>
          <a:xfrm>
            <a:off x="7498080" y="21488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New announcements, events, posted tests and replies land here.</a:t>
            </a:r>
            <a:endParaRPr lang="en-US" sz="1500" dirty="0"/>
          </a:p>
        </p:txBody>
      </p:sp>
      <p:sp>
        <p:nvSpPr>
          <p:cNvPr id="32" name="tile-75"/>
          <p:cNvSpPr/>
          <p:nvPr/>
        </p:nvSpPr>
        <p:spPr>
          <a:xfrm>
            <a:off x="6675120" y="3246120"/>
            <a:ext cx="640080" cy="64008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3" name="icon-76" descr="Settings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5938" y="3386938"/>
            <a:ext cx="358445" cy="358445"/>
          </a:xfrm>
          <a:prstGeom prst="rect">
            <a:avLst/>
          </a:prstGeom>
        </p:spPr>
      </p:pic>
      <p:sp>
        <p:nvSpPr>
          <p:cNvPr id="34" name="text-77"/>
          <p:cNvSpPr txBox="1"/>
          <p:nvPr/>
        </p:nvSpPr>
        <p:spPr>
          <a:xfrm>
            <a:off x="7498080" y="3227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00" dirty="0"/>
          </a:p>
        </p:txBody>
      </p:sp>
      <p:sp>
        <p:nvSpPr>
          <p:cNvPr id="35" name="text-78"/>
          <p:cNvSpPr txBox="1"/>
          <p:nvPr/>
        </p:nvSpPr>
        <p:spPr>
          <a:xfrm>
            <a:off x="7498080" y="36118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Light or dark mode, colours, text size, sound, phone notifications, and your events.</a:t>
            </a:r>
            <a:endParaRPr lang="en-US" sz="1500" dirty="0"/>
          </a:p>
        </p:txBody>
      </p:sp>
      <p:sp>
        <p:nvSpPr>
          <p:cNvPr id="36" name="tile-79"/>
          <p:cNvSpPr/>
          <p:nvPr/>
        </p:nvSpPr>
        <p:spPr>
          <a:xfrm>
            <a:off x="6675120" y="4709160"/>
            <a:ext cx="640080" cy="64008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7" name="icon-80" descr="Smartphon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5938" y="4849978"/>
            <a:ext cx="358445" cy="358445"/>
          </a:xfrm>
          <a:prstGeom prst="rect">
            <a:avLst/>
          </a:prstGeom>
        </p:spPr>
      </p:pic>
      <p:sp>
        <p:nvSpPr>
          <p:cNvPr id="38" name="text-81"/>
          <p:cNvSpPr txBox="1"/>
          <p:nvPr/>
        </p:nvSpPr>
        <p:spPr>
          <a:xfrm>
            <a:off x="7498080" y="4690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it</a:t>
            </a:r>
            <a:endParaRPr lang="en-US" sz="1800" dirty="0"/>
          </a:p>
        </p:txBody>
      </p:sp>
      <p:sp>
        <p:nvSpPr>
          <p:cNvPr id="39" name="text-82"/>
          <p:cNvSpPr txBox="1"/>
          <p:nvPr/>
        </p:nvSpPr>
        <p:spPr>
          <a:xfrm>
            <a:off x="7498080" y="5074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Settings › Phone app shows how to add the site to a home screen like an app.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1546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rooms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One room per HOSA event. Like a Google Classroom class.</a:t>
            </a:r>
            <a:endParaRPr lang="en-US" sz="1800" dirty="0"/>
          </a:p>
        </p:txBody>
      </p:sp>
      <p:pic>
        <p:nvPicPr>
          <p:cNvPr id="5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143000"/>
            <a:ext cx="3931920" cy="3698881"/>
          </a:xfrm>
          <a:prstGeom prst="rect">
            <a:avLst/>
          </a:prstGeom>
        </p:spPr>
      </p:pic>
      <p:sp>
        <p:nvSpPr>
          <p:cNvPr id="6" name="!!ecg"/>
          <p:cNvSpPr/>
          <p:nvPr/>
        </p:nvSpPr>
        <p:spPr>
          <a:xfrm>
            <a:off x="0" y="5715000"/>
            <a:ext cx="12191695" cy="822960"/>
          </a:xfrm>
          <a:custGeom>
            <a:avLst/>
            <a:gdLst/>
            <a:ahLst/>
            <a:cxnLst/>
            <a:rect l="l" t="t" r="r" b="b"/>
            <a:pathLst>
              <a:path w="12191695" h="822960">
                <a:moveTo>
                  <a:pt x="0" y="510235"/>
                </a:moveTo>
                <a:lnTo>
                  <a:pt x="3657509" y="510235"/>
                </a:lnTo>
                <a:lnTo>
                  <a:pt x="4145176" y="427939"/>
                </a:lnTo>
                <a:lnTo>
                  <a:pt x="4632844" y="510235"/>
                </a:lnTo>
                <a:lnTo>
                  <a:pt x="5364346" y="510235"/>
                </a:lnTo>
                <a:lnTo>
                  <a:pt x="5730097" y="608990"/>
                </a:lnTo>
                <a:lnTo>
                  <a:pt x="6217765" y="16459"/>
                </a:lnTo>
                <a:lnTo>
                  <a:pt x="6766391" y="822960"/>
                </a:lnTo>
                <a:lnTo>
                  <a:pt x="7193100" y="510235"/>
                </a:lnTo>
                <a:lnTo>
                  <a:pt x="8046519" y="510235"/>
                </a:lnTo>
                <a:lnTo>
                  <a:pt x="8656104" y="362102"/>
                </a:lnTo>
                <a:lnTo>
                  <a:pt x="9387605" y="510235"/>
                </a:lnTo>
                <a:lnTo>
                  <a:pt x="12191695" y="510235"/>
                </a:lnTo>
              </a:path>
            </a:pathLst>
          </a:custGeom>
          <a:ln w="38100">
            <a:solidFill>
              <a:schemeClr val="accent2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ROOMS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room and get people in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num-8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xt-84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-85"/>
          <p:cNvSpPr txBox="1"/>
          <p:nvPr/>
        </p:nvSpPr>
        <p:spPr>
          <a:xfrm>
            <a:off x="1188720" y="176479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“New event”</a:t>
            </a:r>
            <a:endParaRPr lang="en-US" sz="1600" dirty="0"/>
          </a:p>
        </p:txBody>
      </p:sp>
      <p:sp>
        <p:nvSpPr>
          <p:cNvPr id="9" name="text-86"/>
          <p:cNvSpPr txBox="1"/>
          <p:nvPr/>
        </p:nvSpPr>
        <p:spPr>
          <a:xfrm>
            <a:off x="1188720" y="2084832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 the sidebar, or the bar at the top of the Events page.</a:t>
            </a:r>
            <a:endParaRPr lang="en-US" sz="1400" dirty="0"/>
          </a:p>
        </p:txBody>
      </p:sp>
      <p:sp>
        <p:nvSpPr>
          <p:cNvPr id="10" name="num-87"/>
          <p:cNvSpPr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text-88"/>
          <p:cNvSpPr txBox="1"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-89"/>
          <p:cNvSpPr txBox="1"/>
          <p:nvPr/>
        </p:nvSpPr>
        <p:spPr>
          <a:xfrm>
            <a:off x="1188720" y="26974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the form</a:t>
            </a:r>
            <a:endParaRPr lang="en-US" sz="1600" dirty="0"/>
          </a:p>
        </p:txBody>
      </p:sp>
      <p:sp>
        <p:nvSpPr>
          <p:cNvPr id="13" name="text-90"/>
          <p:cNvSpPr txBox="1"/>
          <p:nvPr/>
        </p:nvSpPr>
        <p:spPr>
          <a:xfrm>
            <a:off x="1188720" y="3017520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Name, HOSA event, event type (MC, Practical or Showcase), description. Showcase has no tests.</a:t>
            </a:r>
            <a:endParaRPr lang="en-US" sz="1400" dirty="0"/>
          </a:p>
        </p:txBody>
      </p:sp>
      <p:sp>
        <p:nvSpPr>
          <p:cNvPr id="14" name="num-91"/>
          <p:cNvSpPr/>
          <p:nvPr/>
        </p:nvSpPr>
        <p:spPr>
          <a:xfrm>
            <a:off x="548640" y="3648456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xt-92"/>
          <p:cNvSpPr txBox="1"/>
          <p:nvPr/>
        </p:nvSpPr>
        <p:spPr>
          <a:xfrm>
            <a:off x="54864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-93"/>
          <p:cNvSpPr txBox="1"/>
          <p:nvPr/>
        </p:nvSpPr>
        <p:spPr>
          <a:xfrm>
            <a:off x="1188720" y="36301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“Make event”</a:t>
            </a:r>
            <a:endParaRPr lang="en-US" sz="1600" dirty="0"/>
          </a:p>
        </p:txBody>
      </p:sp>
      <p:sp>
        <p:nvSpPr>
          <p:cNvPr id="17" name="text-94"/>
          <p:cNvSpPr txBox="1"/>
          <p:nvPr/>
        </p:nvSpPr>
        <p:spPr>
          <a:xfrm>
            <a:off x="1188720" y="3950208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You land inside the new room straight away.</a:t>
            </a:r>
            <a:endParaRPr lang="en-US" sz="1400" dirty="0"/>
          </a:p>
        </p:txBody>
      </p:sp>
      <p:sp>
        <p:nvSpPr>
          <p:cNvPr id="18" name="num-95"/>
          <p:cNvSpPr/>
          <p:nvPr/>
        </p:nvSpPr>
        <p:spPr>
          <a:xfrm>
            <a:off x="548640" y="4581144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-96"/>
          <p:cNvSpPr txBox="1"/>
          <p:nvPr/>
        </p:nvSpPr>
        <p:spPr>
          <a:xfrm>
            <a:off x="54864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-97"/>
          <p:cNvSpPr txBox="1"/>
          <p:nvPr/>
        </p:nvSpPr>
        <p:spPr>
          <a:xfrm>
            <a:off x="1188720" y="456285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join code</a:t>
            </a:r>
            <a:endParaRPr lang="en-US" sz="1600" dirty="0"/>
          </a:p>
        </p:txBody>
      </p:sp>
      <p:sp>
        <p:nvSpPr>
          <p:cNvPr id="21" name="text-98"/>
          <p:cNvSpPr txBox="1"/>
          <p:nvPr/>
        </p:nvSpPr>
        <p:spPr>
          <a:xfrm>
            <a:off x="1188720" y="4882896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It's in the room's header. “Copy” it, or put it on the projector.</a:t>
            </a:r>
            <a:endParaRPr lang="en-US" sz="1400" dirty="0"/>
          </a:p>
        </p:txBody>
      </p:sp>
      <p:sp>
        <p:nvSpPr>
          <p:cNvPr id="22" name="num-99"/>
          <p:cNvSpPr/>
          <p:nvPr/>
        </p:nvSpPr>
        <p:spPr>
          <a:xfrm>
            <a:off x="548640" y="5513832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3" name="text-100"/>
          <p:cNvSpPr txBox="1"/>
          <p:nvPr/>
        </p:nvSpPr>
        <p:spPr>
          <a:xfrm>
            <a:off x="54864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-101"/>
          <p:cNvSpPr txBox="1"/>
          <p:nvPr/>
        </p:nvSpPr>
        <p:spPr>
          <a:xfrm>
            <a:off x="1188720" y="549554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join</a:t>
            </a:r>
            <a:endParaRPr lang="en-US" sz="1600" dirty="0"/>
          </a:p>
        </p:txBody>
      </p:sp>
      <p:sp>
        <p:nvSpPr>
          <p:cNvPr id="25" name="text-102"/>
          <p:cNvSpPr txBox="1"/>
          <p:nvPr/>
        </p:nvSpPr>
        <p:spPr>
          <a:xfrm>
            <a:off x="1188720" y="5815584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They tap “Join with a code” and type it in. Members can be in many events.</a:t>
            </a:r>
            <a:endParaRPr lang="en-US" sz="1400" dirty="0"/>
          </a:p>
        </p:txBody>
      </p:sp>
      <p:sp>
        <p:nvSpPr>
          <p:cNvPr id="26" name="box-103"/>
          <p:cNvSpPr/>
          <p:nvPr/>
        </p:nvSpPr>
        <p:spPr>
          <a:xfrm>
            <a:off x="7315200" y="1874520"/>
            <a:ext cx="4297680" cy="237744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7" name="text-104"/>
          <p:cNvSpPr txBox="1"/>
          <p:nvPr/>
        </p:nvSpPr>
        <p:spPr>
          <a:xfrm>
            <a:off x="76352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CODE</a:t>
            </a:r>
            <a:endParaRPr lang="en-US" sz="1200" dirty="0"/>
          </a:p>
        </p:txBody>
      </p:sp>
      <p:sp>
        <p:nvSpPr>
          <p:cNvPr id="28" name="text-105"/>
          <p:cNvSpPr txBox="1"/>
          <p:nvPr/>
        </p:nvSpPr>
        <p:spPr>
          <a:xfrm>
            <a:off x="76352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K7P Q2M</a:t>
            </a:r>
            <a:endParaRPr lang="en-US" sz="5400" dirty="0"/>
          </a:p>
        </p:txBody>
      </p:sp>
      <p:sp>
        <p:nvSpPr>
          <p:cNvPr id="29" name="btn-106"/>
          <p:cNvSpPr/>
          <p:nvPr/>
        </p:nvSpPr>
        <p:spPr>
          <a:xfrm>
            <a:off x="7635240" y="3566160"/>
            <a:ext cx="1463040" cy="411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0" name="text-107"/>
          <p:cNvSpPr txBox="1"/>
          <p:nvPr/>
        </p:nvSpPr>
        <p:spPr>
          <a:xfrm>
            <a:off x="763524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Copy</a:t>
            </a:r>
            <a:endParaRPr lang="en-US" sz="1400" dirty="0"/>
          </a:p>
        </p:txBody>
      </p:sp>
      <p:sp>
        <p:nvSpPr>
          <p:cNvPr id="31" name="btn-108"/>
          <p:cNvSpPr/>
          <p:nvPr/>
        </p:nvSpPr>
        <p:spPr>
          <a:xfrm>
            <a:off x="9235440" y="3566160"/>
            <a:ext cx="1463040" cy="41148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2" name="text-109"/>
          <p:cNvSpPr txBox="1"/>
          <p:nvPr/>
        </p:nvSpPr>
        <p:spPr>
          <a:xfrm>
            <a:off x="923544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New code</a:t>
            </a:r>
            <a:endParaRPr lang="en-US" sz="1400" dirty="0"/>
          </a:p>
        </p:txBody>
      </p:sp>
      <p:sp>
        <p:nvSpPr>
          <p:cNvPr id="33" name="box-110"/>
          <p:cNvSpPr/>
          <p:nvPr/>
        </p:nvSpPr>
        <p:spPr>
          <a:xfrm>
            <a:off x="7315200" y="4526280"/>
            <a:ext cx="4297680" cy="10515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4" name="text-111"/>
          <p:cNvSpPr txBox="1"/>
          <p:nvPr/>
        </p:nvSpPr>
        <p:spPr>
          <a:xfrm>
            <a:off x="7589520" y="4663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Code leaked?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Tap “New code”. The old one stops working, and everyone already in stays 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ROOMS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 a room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tab-112"/>
          <p:cNvSpPr/>
          <p:nvPr/>
        </p:nvSpPr>
        <p:spPr>
          <a:xfrm>
            <a:off x="548640" y="1691640"/>
            <a:ext cx="1584916" cy="54864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ext-113"/>
          <p:cNvSpPr txBox="1"/>
          <p:nvPr/>
        </p:nvSpPr>
        <p:spPr>
          <a:xfrm>
            <a:off x="548640" y="1691640"/>
            <a:ext cx="15849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400" dirty="0"/>
          </a:p>
        </p:txBody>
      </p:sp>
      <p:sp>
        <p:nvSpPr>
          <p:cNvPr id="8" name="tab-114"/>
          <p:cNvSpPr/>
          <p:nvPr/>
        </p:nvSpPr>
        <p:spPr>
          <a:xfrm>
            <a:off x="2133556" y="1691640"/>
            <a:ext cx="1584916" cy="548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9" name="text-115"/>
          <p:cNvSpPr txBox="1"/>
          <p:nvPr/>
        </p:nvSpPr>
        <p:spPr>
          <a:xfrm>
            <a:off x="2133556" y="1691640"/>
            <a:ext cx="15849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▾</a:t>
            </a:r>
            <a:endParaRPr lang="en-US" sz="1400" dirty="0"/>
          </a:p>
        </p:txBody>
      </p:sp>
      <p:sp>
        <p:nvSpPr>
          <p:cNvPr id="10" name="tab-116"/>
          <p:cNvSpPr/>
          <p:nvPr/>
        </p:nvSpPr>
        <p:spPr>
          <a:xfrm>
            <a:off x="3718473" y="1691640"/>
            <a:ext cx="1584916" cy="548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1" name="text-117"/>
          <p:cNvSpPr txBox="1"/>
          <p:nvPr/>
        </p:nvSpPr>
        <p:spPr>
          <a:xfrm>
            <a:off x="3718473" y="1691640"/>
            <a:ext cx="15849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12" name="tab-118"/>
          <p:cNvSpPr/>
          <p:nvPr/>
        </p:nvSpPr>
        <p:spPr>
          <a:xfrm>
            <a:off x="5303389" y="1691640"/>
            <a:ext cx="1584916" cy="548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3" name="text-119"/>
          <p:cNvSpPr txBox="1"/>
          <p:nvPr/>
        </p:nvSpPr>
        <p:spPr>
          <a:xfrm>
            <a:off x="5303389" y="1691640"/>
            <a:ext cx="15849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400" dirty="0"/>
          </a:p>
        </p:txBody>
      </p:sp>
      <p:sp>
        <p:nvSpPr>
          <p:cNvPr id="14" name="tab-120"/>
          <p:cNvSpPr/>
          <p:nvPr/>
        </p:nvSpPr>
        <p:spPr>
          <a:xfrm>
            <a:off x="6888306" y="1691640"/>
            <a:ext cx="1584916" cy="548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5" name="text-121"/>
          <p:cNvSpPr txBox="1"/>
          <p:nvPr/>
        </p:nvSpPr>
        <p:spPr>
          <a:xfrm>
            <a:off x="6888306" y="1691640"/>
            <a:ext cx="15849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6" name="tab-122"/>
          <p:cNvSpPr/>
          <p:nvPr/>
        </p:nvSpPr>
        <p:spPr>
          <a:xfrm>
            <a:off x="8473222" y="1691640"/>
            <a:ext cx="1584916" cy="54864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7" name="text-123"/>
          <p:cNvSpPr txBox="1"/>
          <p:nvPr/>
        </p:nvSpPr>
        <p:spPr>
          <a:xfrm>
            <a:off x="8473222" y="1691640"/>
            <a:ext cx="15849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</a:t>
            </a:r>
            <a:endParaRPr lang="en-US" sz="1400" dirty="0"/>
          </a:p>
        </p:txBody>
      </p:sp>
      <p:sp>
        <p:nvSpPr>
          <p:cNvPr id="18" name="tab-124"/>
          <p:cNvSpPr/>
          <p:nvPr/>
        </p:nvSpPr>
        <p:spPr>
          <a:xfrm>
            <a:off x="10058139" y="1691640"/>
            <a:ext cx="1584916" cy="54864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9" name="text-125"/>
          <p:cNvSpPr txBox="1"/>
          <p:nvPr/>
        </p:nvSpPr>
        <p:spPr>
          <a:xfrm>
            <a:off x="10058139" y="1691640"/>
            <a:ext cx="15849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400" dirty="0"/>
          </a:p>
        </p:txBody>
      </p:sp>
      <p:sp>
        <p:nvSpPr>
          <p:cNvPr id="20" name="text-126"/>
          <p:cNvSpPr txBox="1"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Shaded tabs only show for the room's trainer and execs.</a:t>
            </a:r>
            <a:endParaRPr lang="en-US" sz="1200" dirty="0"/>
          </a:p>
        </p:txBody>
      </p:sp>
      <p:sp>
        <p:nvSpPr>
          <p:cNvPr id="21" name="box-127"/>
          <p:cNvSpPr/>
          <p:nvPr/>
        </p:nvSpPr>
        <p:spPr>
          <a:xfrm>
            <a:off x="548640" y="2743200"/>
            <a:ext cx="3566160" cy="14630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2" name="tile-128"/>
          <p:cNvSpPr/>
          <p:nvPr/>
        </p:nvSpPr>
        <p:spPr>
          <a:xfrm>
            <a:off x="777240" y="2971800"/>
            <a:ext cx="502920" cy="5029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3" name="icon-129" descr="Megapho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2" y="3082442"/>
            <a:ext cx="281635" cy="281635"/>
          </a:xfrm>
          <a:prstGeom prst="rect">
            <a:avLst/>
          </a:prstGeom>
        </p:spPr>
      </p:pic>
      <p:sp>
        <p:nvSpPr>
          <p:cNvPr id="24" name="text-130"/>
          <p:cNvSpPr txBox="1"/>
          <p:nvPr/>
        </p:nvSpPr>
        <p:spPr>
          <a:xfrm>
            <a:off x="1417320" y="2990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700" dirty="0"/>
          </a:p>
        </p:txBody>
      </p:sp>
      <p:sp>
        <p:nvSpPr>
          <p:cNvPr id="25" name="text-131"/>
          <p:cNvSpPr txBox="1"/>
          <p:nvPr/>
        </p:nvSpPr>
        <p:spPr>
          <a:xfrm>
            <a:off x="777240" y="35661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Room news (post and pin), who's online, and the Battle button.</a:t>
            </a:r>
            <a:endParaRPr lang="en-US" sz="1300" dirty="0"/>
          </a:p>
        </p:txBody>
      </p:sp>
      <p:sp>
        <p:nvSpPr>
          <p:cNvPr id="26" name="box-132"/>
          <p:cNvSpPr/>
          <p:nvPr/>
        </p:nvSpPr>
        <p:spPr>
          <a:xfrm>
            <a:off x="4315968" y="2743200"/>
            <a:ext cx="3566160" cy="14630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7" name="tile-133"/>
          <p:cNvSpPr/>
          <p:nvPr/>
        </p:nvSpPr>
        <p:spPr>
          <a:xfrm>
            <a:off x="4544568" y="2971800"/>
            <a:ext cx="502920" cy="5029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8" name="icon-134" descr="ClipboardLi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210" y="3082442"/>
            <a:ext cx="281635" cy="281635"/>
          </a:xfrm>
          <a:prstGeom prst="rect">
            <a:avLst/>
          </a:prstGeom>
        </p:spPr>
      </p:pic>
      <p:sp>
        <p:nvSpPr>
          <p:cNvPr id="29" name="text-135"/>
          <p:cNvSpPr txBox="1"/>
          <p:nvPr/>
        </p:nvSpPr>
        <p:spPr>
          <a:xfrm>
            <a:off x="5184648" y="2990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700" dirty="0"/>
          </a:p>
        </p:txBody>
      </p:sp>
      <p:sp>
        <p:nvSpPr>
          <p:cNvPr id="30" name="text-136"/>
          <p:cNvSpPr txBox="1"/>
          <p:nvPr/>
        </p:nvSpPr>
        <p:spPr>
          <a:xfrm>
            <a:off x="4544568" y="35661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 dropdown with Tests and Cards: the room's tests and flashcard decks.</a:t>
            </a:r>
            <a:endParaRPr lang="en-US" sz="1300" dirty="0"/>
          </a:p>
        </p:txBody>
      </p:sp>
      <p:sp>
        <p:nvSpPr>
          <p:cNvPr id="31" name="box-137"/>
          <p:cNvSpPr/>
          <p:nvPr/>
        </p:nvSpPr>
        <p:spPr>
          <a:xfrm>
            <a:off x="8083296" y="2743200"/>
            <a:ext cx="3566160" cy="14630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2" name="tile-138"/>
          <p:cNvSpPr/>
          <p:nvPr/>
        </p:nvSpPr>
        <p:spPr>
          <a:xfrm>
            <a:off x="8311896" y="2971800"/>
            <a:ext cx="502920" cy="5029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3" name="icon-139" descr="FolderOpe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538" y="3082442"/>
            <a:ext cx="281635" cy="281635"/>
          </a:xfrm>
          <a:prstGeom prst="rect">
            <a:avLst/>
          </a:prstGeom>
        </p:spPr>
      </p:pic>
      <p:sp>
        <p:nvSpPr>
          <p:cNvPr id="34" name="text-140"/>
          <p:cNvSpPr txBox="1"/>
          <p:nvPr/>
        </p:nvSpPr>
        <p:spPr>
          <a:xfrm>
            <a:off x="8951976" y="2990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700" dirty="0"/>
          </a:p>
        </p:txBody>
      </p:sp>
      <p:sp>
        <p:nvSpPr>
          <p:cNvPr id="35" name="text-141"/>
          <p:cNvSpPr txBox="1"/>
          <p:nvPr/>
        </p:nvSpPr>
        <p:spPr>
          <a:xfrm>
            <a:off x="8311896" y="35661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Files (up to 50 MB) and links, grouped into sections like “Past tests”.</a:t>
            </a:r>
            <a:endParaRPr lang="en-US" sz="1300" dirty="0"/>
          </a:p>
        </p:txBody>
      </p:sp>
      <p:sp>
        <p:nvSpPr>
          <p:cNvPr id="36" name="box-142"/>
          <p:cNvSpPr/>
          <p:nvPr/>
        </p:nvSpPr>
        <p:spPr>
          <a:xfrm>
            <a:off x="548640" y="4407408"/>
            <a:ext cx="3566160" cy="14630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7" name="tile-143"/>
          <p:cNvSpPr/>
          <p:nvPr/>
        </p:nvSpPr>
        <p:spPr>
          <a:xfrm>
            <a:off x="777240" y="4636008"/>
            <a:ext cx="502920" cy="5029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8" name="icon-144" descr="User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882" y="4746650"/>
            <a:ext cx="281635" cy="281635"/>
          </a:xfrm>
          <a:prstGeom prst="rect">
            <a:avLst/>
          </a:prstGeom>
        </p:spPr>
      </p:pic>
      <p:sp>
        <p:nvSpPr>
          <p:cNvPr id="39" name="text-145"/>
          <p:cNvSpPr txBox="1"/>
          <p:nvPr/>
        </p:nvSpPr>
        <p:spPr>
          <a:xfrm>
            <a:off x="1417320" y="46542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700" dirty="0"/>
          </a:p>
        </p:txBody>
      </p:sp>
      <p:sp>
        <p:nvSpPr>
          <p:cNvPr id="40" name="text-146"/>
          <p:cNvSpPr txBox="1"/>
          <p:nvPr/>
        </p:nvSpPr>
        <p:spPr>
          <a:xfrm>
            <a:off x="777240" y="523036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Everyone in the room. Trainers can see and manage their members.</a:t>
            </a:r>
            <a:endParaRPr lang="en-US" sz="1300" dirty="0"/>
          </a:p>
        </p:txBody>
      </p:sp>
      <p:sp>
        <p:nvSpPr>
          <p:cNvPr id="41" name="box-147"/>
          <p:cNvSpPr/>
          <p:nvPr/>
        </p:nvSpPr>
        <p:spPr>
          <a:xfrm>
            <a:off x="4315968" y="4407408"/>
            <a:ext cx="3566160" cy="14630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42" name="tile-148"/>
          <p:cNvSpPr/>
          <p:nvPr/>
        </p:nvSpPr>
        <p:spPr>
          <a:xfrm>
            <a:off x="4544568" y="4636008"/>
            <a:ext cx="502920" cy="5029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43" name="icon-149" descr="Clipboard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5210" y="4746650"/>
            <a:ext cx="281635" cy="281635"/>
          </a:xfrm>
          <a:prstGeom prst="rect">
            <a:avLst/>
          </a:prstGeom>
        </p:spPr>
      </p:pic>
      <p:sp>
        <p:nvSpPr>
          <p:cNvPr id="44" name="text-150"/>
          <p:cNvSpPr txBox="1"/>
          <p:nvPr/>
        </p:nvSpPr>
        <p:spPr>
          <a:xfrm>
            <a:off x="5184648" y="46542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700" dirty="0"/>
          </a:p>
        </p:txBody>
      </p:sp>
      <p:sp>
        <p:nvSpPr>
          <p:cNvPr id="45" name="text-151"/>
          <p:cNvSpPr txBox="1"/>
          <p:nvPr/>
        </p:nvSpPr>
        <p:spPr>
          <a:xfrm>
            <a:off x="4544568" y="523036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This week's roll (Attended, Late, Absent, Excused) and the weekly tracker.</a:t>
            </a:r>
            <a:endParaRPr lang="en-US" sz="1300" dirty="0"/>
          </a:p>
        </p:txBody>
      </p:sp>
      <p:sp>
        <p:nvSpPr>
          <p:cNvPr id="46" name="box-152"/>
          <p:cNvSpPr/>
          <p:nvPr/>
        </p:nvSpPr>
        <p:spPr>
          <a:xfrm>
            <a:off x="8083296" y="4407408"/>
            <a:ext cx="3566160" cy="14630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47" name="tile-153"/>
          <p:cNvSpPr/>
          <p:nvPr/>
        </p:nvSpPr>
        <p:spPr>
          <a:xfrm>
            <a:off x="8311896" y="4636008"/>
            <a:ext cx="502920" cy="5029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48" name="icon-154" descr="ChartBar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2538" y="4746650"/>
            <a:ext cx="281635" cy="281635"/>
          </a:xfrm>
          <a:prstGeom prst="rect">
            <a:avLst/>
          </a:prstGeom>
        </p:spPr>
      </p:pic>
      <p:sp>
        <p:nvSpPr>
          <p:cNvPr id="49" name="text-155"/>
          <p:cNvSpPr txBox="1"/>
          <p:nvPr/>
        </p:nvSpPr>
        <p:spPr>
          <a:xfrm>
            <a:off x="8951976" y="46542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+ Settings</a:t>
            </a:r>
            <a:endParaRPr lang="en-US" sz="1700" dirty="0"/>
          </a:p>
        </p:txBody>
      </p:sp>
      <p:sp>
        <p:nvSpPr>
          <p:cNvPr id="50" name="text-156"/>
          <p:cNvSpPr txBox="1"/>
          <p:nvPr/>
        </p:nvSpPr>
        <p:spPr>
          <a:xfrm>
            <a:off x="8311896" y="523036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Best score per member per test, CSV download. Settings edits or deletes the room.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1546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and flashcards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Build them by hand, paste them in bulk, or send them to me.</a:t>
            </a:r>
            <a:endParaRPr lang="en-US" sz="1800" dirty="0"/>
          </a:p>
        </p:txBody>
      </p:sp>
      <p:pic>
        <p:nvPicPr>
          <p:cNvPr id="5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143000"/>
            <a:ext cx="3931920" cy="3698881"/>
          </a:xfrm>
          <a:prstGeom prst="rect">
            <a:avLst/>
          </a:prstGeom>
        </p:spPr>
      </p:pic>
      <p:sp>
        <p:nvSpPr>
          <p:cNvPr id="6" name="!!ecg"/>
          <p:cNvSpPr/>
          <p:nvPr/>
        </p:nvSpPr>
        <p:spPr>
          <a:xfrm>
            <a:off x="0" y="5715000"/>
            <a:ext cx="12191695" cy="822960"/>
          </a:xfrm>
          <a:custGeom>
            <a:avLst/>
            <a:gdLst/>
            <a:ahLst/>
            <a:cxnLst/>
            <a:rect l="l" t="t" r="r" b="b"/>
            <a:pathLst>
              <a:path w="12191695" h="822960">
                <a:moveTo>
                  <a:pt x="0" y="510235"/>
                </a:moveTo>
                <a:lnTo>
                  <a:pt x="3657509" y="510235"/>
                </a:lnTo>
                <a:lnTo>
                  <a:pt x="4145176" y="427939"/>
                </a:lnTo>
                <a:lnTo>
                  <a:pt x="4632844" y="510235"/>
                </a:lnTo>
                <a:lnTo>
                  <a:pt x="5364346" y="510235"/>
                </a:lnTo>
                <a:lnTo>
                  <a:pt x="5730097" y="608990"/>
                </a:lnTo>
                <a:lnTo>
                  <a:pt x="6217765" y="16459"/>
                </a:lnTo>
                <a:lnTo>
                  <a:pt x="6766391" y="822960"/>
                </a:lnTo>
                <a:lnTo>
                  <a:pt x="7193100" y="510235"/>
                </a:lnTo>
                <a:lnTo>
                  <a:pt x="8046519" y="510235"/>
                </a:lnTo>
                <a:lnTo>
                  <a:pt x="8656104" y="362102"/>
                </a:lnTo>
                <a:lnTo>
                  <a:pt x="9387605" y="510235"/>
                </a:lnTo>
                <a:lnTo>
                  <a:pt x="12191695" y="510235"/>
                </a:lnTo>
              </a:path>
            </a:pathLst>
          </a:custGeom>
          <a:ln w="38100">
            <a:solidFill>
              <a:schemeClr val="accent2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a test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num-157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xt-158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-159"/>
          <p:cNvSpPr txBox="1"/>
          <p:nvPr/>
        </p:nvSpPr>
        <p:spPr>
          <a:xfrm>
            <a:off x="1188720" y="17647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› Tests › “New test”</a:t>
            </a:r>
            <a:endParaRPr lang="en-US" sz="1600" dirty="0"/>
          </a:p>
        </p:txBody>
      </p:sp>
      <p:sp>
        <p:nvSpPr>
          <p:cNvPr id="9" name="text-160"/>
          <p:cNvSpPr txBox="1"/>
          <p:nvPr/>
        </p:nvSpPr>
        <p:spPr>
          <a:xfrm>
            <a:off x="1188720" y="2084832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One tap makes a draft called “Untitled test”. Rename it right away.</a:t>
            </a:r>
            <a:endParaRPr lang="en-US" sz="1400" dirty="0"/>
          </a:p>
        </p:txBody>
      </p:sp>
      <p:sp>
        <p:nvSpPr>
          <p:cNvPr id="10" name="num-161"/>
          <p:cNvSpPr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text-162"/>
          <p:cNvSpPr txBox="1"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-163"/>
          <p:cNvSpPr txBox="1"/>
          <p:nvPr/>
        </p:nvSpPr>
        <p:spPr>
          <a:xfrm>
            <a:off x="1188720" y="26974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questions: “Write one”</a:t>
            </a:r>
            <a:endParaRPr lang="en-US" sz="1600" dirty="0"/>
          </a:p>
        </p:txBody>
      </p:sp>
      <p:sp>
        <p:nvSpPr>
          <p:cNvPr id="13" name="text-164"/>
          <p:cNvSpPr txBox="1"/>
          <p:nvPr/>
        </p:nvSpPr>
        <p:spPr>
          <a:xfrm>
            <a:off x="1188720" y="3017520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Question, 2 to 5 choices, tap the right letter, optional explanation.</a:t>
            </a:r>
            <a:endParaRPr lang="en-US" sz="1400" dirty="0"/>
          </a:p>
        </p:txBody>
      </p:sp>
      <p:sp>
        <p:nvSpPr>
          <p:cNvPr id="14" name="num-165"/>
          <p:cNvSpPr/>
          <p:nvPr/>
        </p:nvSpPr>
        <p:spPr>
          <a:xfrm>
            <a:off x="548640" y="3648456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xt-166"/>
          <p:cNvSpPr txBox="1"/>
          <p:nvPr/>
        </p:nvSpPr>
        <p:spPr>
          <a:xfrm>
            <a:off x="54864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-167"/>
          <p:cNvSpPr txBox="1"/>
          <p:nvPr/>
        </p:nvSpPr>
        <p:spPr>
          <a:xfrm>
            <a:off x="1188720" y="36301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“Paste many”</a:t>
            </a:r>
            <a:endParaRPr lang="en-US" sz="1600" dirty="0"/>
          </a:p>
        </p:txBody>
      </p:sp>
      <p:sp>
        <p:nvSpPr>
          <p:cNvPr id="17" name="text-168"/>
          <p:cNvSpPr txBox="1"/>
          <p:nvPr/>
        </p:nvSpPr>
        <p:spPr>
          <a:xfrm>
            <a:off x="1188720" y="3950208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Paste a whole past test at once. The next slide shows the format.</a:t>
            </a:r>
            <a:endParaRPr lang="en-US" sz="1400" dirty="0"/>
          </a:p>
        </p:txBody>
      </p:sp>
      <p:sp>
        <p:nvSpPr>
          <p:cNvPr id="18" name="num-169"/>
          <p:cNvSpPr/>
          <p:nvPr/>
        </p:nvSpPr>
        <p:spPr>
          <a:xfrm>
            <a:off x="548640" y="4581144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-170"/>
          <p:cNvSpPr txBox="1"/>
          <p:nvPr/>
        </p:nvSpPr>
        <p:spPr>
          <a:xfrm>
            <a:off x="54864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-171"/>
          <p:cNvSpPr txBox="1"/>
          <p:nvPr/>
        </p:nvSpPr>
        <p:spPr>
          <a:xfrm>
            <a:off x="1188720" y="456285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details</a:t>
            </a:r>
            <a:endParaRPr lang="en-US" sz="1600" dirty="0"/>
          </a:p>
        </p:txBody>
      </p:sp>
      <p:sp>
        <p:nvSpPr>
          <p:cNvPr id="21" name="text-172"/>
          <p:cNvSpPr txBox="1"/>
          <p:nvPr/>
        </p:nvSpPr>
        <p:spPr>
          <a:xfrm>
            <a:off x="1188720" y="4882896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Time limit, attempts, show answers, shuffle. Then “Save details”.</a:t>
            </a:r>
            <a:endParaRPr lang="en-US" sz="1400" dirty="0"/>
          </a:p>
        </p:txBody>
      </p:sp>
      <p:sp>
        <p:nvSpPr>
          <p:cNvPr id="22" name="num-173"/>
          <p:cNvSpPr/>
          <p:nvPr/>
        </p:nvSpPr>
        <p:spPr>
          <a:xfrm>
            <a:off x="548640" y="5513832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3" name="text-174"/>
          <p:cNvSpPr txBox="1"/>
          <p:nvPr/>
        </p:nvSpPr>
        <p:spPr>
          <a:xfrm>
            <a:off x="54864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-175"/>
          <p:cNvSpPr txBox="1"/>
          <p:nvPr/>
        </p:nvSpPr>
        <p:spPr>
          <a:xfrm>
            <a:off x="1188720" y="549554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“Post”</a:t>
            </a:r>
            <a:endParaRPr lang="en-US" sz="1600" dirty="0"/>
          </a:p>
        </p:txBody>
      </p:sp>
      <p:sp>
        <p:nvSpPr>
          <p:cNvPr id="25" name="text-176"/>
          <p:cNvSpPr txBox="1"/>
          <p:nvPr/>
        </p:nvSpPr>
        <p:spPr>
          <a:xfrm>
            <a:off x="1188720" y="5815584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Members can't see drafts. “Hide from members” takes it back down.</a:t>
            </a:r>
            <a:endParaRPr lang="en-US" sz="1400" dirty="0"/>
          </a:p>
        </p:txBody>
      </p:sp>
      <p:sp>
        <p:nvSpPr>
          <p:cNvPr id="26" name="box-177"/>
          <p:cNvSpPr/>
          <p:nvPr/>
        </p:nvSpPr>
        <p:spPr>
          <a:xfrm>
            <a:off x="7589520" y="1828800"/>
            <a:ext cx="4023360" cy="4160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7" name="tile-178"/>
          <p:cNvSpPr/>
          <p:nvPr/>
        </p:nvSpPr>
        <p:spPr>
          <a:xfrm>
            <a:off x="7863840" y="2103120"/>
            <a:ext cx="640080" cy="64008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28" name="icon-179" descr="Sparkl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658" y="2243938"/>
            <a:ext cx="358445" cy="358445"/>
          </a:xfrm>
          <a:prstGeom prst="rect">
            <a:avLst/>
          </a:prstGeom>
        </p:spPr>
      </p:pic>
      <p:sp>
        <p:nvSpPr>
          <p:cNvPr id="29" name="text-180"/>
          <p:cNvSpPr txBox="1"/>
          <p:nvPr/>
        </p:nvSpPr>
        <p:spPr>
          <a:xfrm>
            <a:off x="8686800" y="21214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 is automatic</a:t>
            </a:r>
            <a:endParaRPr lang="en-US" sz="1800" dirty="0"/>
          </a:p>
        </p:txBody>
      </p:sp>
      <p:sp>
        <p:nvSpPr>
          <p:cNvPr id="30" name="text-181"/>
          <p:cNvSpPr txBox="1"/>
          <p:nvPr/>
        </p:nvSpPr>
        <p:spPr>
          <a:xfrm>
            <a:off x="7863840" y="297180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Marked on the server the moment they submit.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They see the right answers and explanations after (unless you turn that off).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Answer keys are never visible before they submit.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attempt counts toward stats and the leaderboard.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whole test in one go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182"/>
          <p:cNvSpPr/>
          <p:nvPr/>
        </p:nvSpPr>
        <p:spPr>
          <a:xfrm>
            <a:off x="548640" y="1737360"/>
            <a:ext cx="5120640" cy="43434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ext-183"/>
          <p:cNvSpPr txBox="1"/>
          <p:nvPr/>
        </p:nvSpPr>
        <p:spPr>
          <a:xfrm>
            <a:off x="8686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QUESTIONS</a:t>
            </a:r>
            <a:endParaRPr lang="en-US" sz="1100" dirty="0"/>
          </a:p>
        </p:txBody>
      </p:sp>
      <p:sp>
        <p:nvSpPr>
          <p:cNvPr id="8" name="text-184"/>
          <p:cNvSpPr txBox="1"/>
          <p:nvPr/>
        </p:nvSpPr>
        <p:spPr>
          <a:xfrm>
            <a:off x="868680" y="2377440"/>
            <a:ext cx="4572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Which bone is the longest?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Humerus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Femur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Tibia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Fibula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Explanation: The femur runs hip to knee.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Normal resting heart rate?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30-50  B. 60-100  C. 110-140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500" dirty="0"/>
          </a:p>
        </p:txBody>
      </p:sp>
      <p:sp>
        <p:nvSpPr>
          <p:cNvPr id="9" name="text-185"/>
          <p:cNvSpPr txBox="1"/>
          <p:nvPr/>
        </p:nvSpPr>
        <p:spPr>
          <a:xfrm>
            <a:off x="603504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endParaRPr lang="en-US" sz="1600" dirty="0"/>
          </a:p>
        </p:txBody>
      </p:sp>
      <p:sp>
        <p:nvSpPr>
          <p:cNvPr id="10" name="text-186"/>
          <p:cNvSpPr txBox="1"/>
          <p:nvPr/>
        </p:nvSpPr>
        <p:spPr>
          <a:xfrm>
            <a:off x="7680960" y="1801368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1.   1)   Q1.   Question 1</a:t>
            </a:r>
            <a:endParaRPr lang="en-US" sz="1400" dirty="0"/>
          </a:p>
        </p:txBody>
      </p:sp>
      <p:sp>
        <p:nvSpPr>
          <p:cNvPr id="11" name="text-187"/>
          <p:cNvSpPr txBox="1"/>
          <p:nvPr/>
        </p:nvSpPr>
        <p:spPr>
          <a:xfrm>
            <a:off x="6035040" y="25328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Choices</a:t>
            </a:r>
            <a:endParaRPr lang="en-US" sz="1600" dirty="0"/>
          </a:p>
        </p:txBody>
      </p:sp>
      <p:sp>
        <p:nvSpPr>
          <p:cNvPr id="12" name="text-188"/>
          <p:cNvSpPr txBox="1"/>
          <p:nvPr/>
        </p:nvSpPr>
        <p:spPr>
          <a:xfrm>
            <a:off x="7680960" y="2551176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to E, 2 to 5 of them. A.  A)  (A)  or several on one line</a:t>
            </a:r>
            <a:endParaRPr lang="en-US" sz="1400" dirty="0"/>
          </a:p>
        </p:txBody>
      </p:sp>
      <p:sp>
        <p:nvSpPr>
          <p:cNvPr id="13" name="text-189"/>
          <p:cNvSpPr txBox="1"/>
          <p:nvPr/>
        </p:nvSpPr>
        <p:spPr>
          <a:xfrm>
            <a:off x="6035040" y="328269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600" dirty="0"/>
          </a:p>
        </p:txBody>
      </p:sp>
      <p:sp>
        <p:nvSpPr>
          <p:cNvPr id="14" name="text-190"/>
          <p:cNvSpPr txBox="1"/>
          <p:nvPr/>
        </p:nvSpPr>
        <p:spPr>
          <a:xfrm>
            <a:off x="7680960" y="3300984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Answer: B, Ans. B, or one answer key at the very end (1. B  2. C ...)</a:t>
            </a:r>
            <a:endParaRPr lang="en-US" sz="1400" dirty="0"/>
          </a:p>
        </p:txBody>
      </p:sp>
      <p:sp>
        <p:nvSpPr>
          <p:cNvPr id="15" name="text-191"/>
          <p:cNvSpPr txBox="1"/>
          <p:nvPr/>
        </p:nvSpPr>
        <p:spPr>
          <a:xfrm>
            <a:off x="6035040" y="40325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6" name="text-192"/>
          <p:cNvSpPr txBox="1"/>
          <p:nvPr/>
        </p:nvSpPr>
        <p:spPr>
          <a:xfrm>
            <a:off x="7680960" y="4050792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Optional. Explanation:, Rationale: or Reason:</a:t>
            </a:r>
            <a:endParaRPr lang="en-US" sz="1400" dirty="0"/>
          </a:p>
        </p:txBody>
      </p:sp>
      <p:sp>
        <p:nvSpPr>
          <p:cNvPr id="17" name="box-193"/>
          <p:cNvSpPr/>
          <p:nvPr/>
        </p:nvSpPr>
        <p:spPr>
          <a:xfrm>
            <a:off x="6035040" y="4892040"/>
            <a:ext cx="5608015" cy="11887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8" name="text-194"/>
          <p:cNvSpPr txBox="1"/>
          <p:nvPr/>
        </p:nvSpPr>
        <p:spPr>
          <a:xfrm>
            <a:off x="6309360" y="5029200"/>
            <a:ext cx="5059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 the preview.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Broken questions show as “Left out” with the reason. Tap an option to fix the answer, then “Add N questions”.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 a past test? Drop it in the Drive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text-195"/>
          <p:cNvSpPr txBox="1"/>
          <p:nvPr/>
        </p:nvSpPr>
        <p:spPr>
          <a:xfrm>
            <a:off x="548640" y="16002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Bulk uploading is fiddly, so send past tests to one shared Google Drive folder and I'll put them on the site for you.</a:t>
            </a:r>
            <a:endParaRPr lang="en-US" sz="1800" dirty="0"/>
          </a:p>
        </p:txBody>
      </p:sp>
      <p:sp>
        <p:nvSpPr>
          <p:cNvPr id="7" name="box-196"/>
          <p:cNvSpPr/>
          <p:nvPr/>
        </p:nvSpPr>
        <p:spPr>
          <a:xfrm>
            <a:off x="548640" y="2514600"/>
            <a:ext cx="2567864" cy="20116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8" name="tile-197"/>
          <p:cNvSpPr/>
          <p:nvPr/>
        </p:nvSpPr>
        <p:spPr>
          <a:xfrm>
            <a:off x="777240" y="2743200"/>
            <a:ext cx="548640" cy="548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9" name="icon-198" descr="FileTex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863901"/>
            <a:ext cx="307238" cy="307238"/>
          </a:xfrm>
          <a:prstGeom prst="rect">
            <a:avLst/>
          </a:prstGeom>
        </p:spPr>
      </p:pic>
      <p:sp>
        <p:nvSpPr>
          <p:cNvPr id="10" name="text-199"/>
          <p:cNvSpPr txBox="1"/>
          <p:nvPr/>
        </p:nvSpPr>
        <p:spPr>
          <a:xfrm>
            <a:off x="777240" y="3429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test</a:t>
            </a:r>
            <a:endParaRPr lang="en-US" sz="1700" dirty="0"/>
          </a:p>
        </p:txBody>
      </p:sp>
      <p:sp>
        <p:nvSpPr>
          <p:cNvPr id="11" name="text-200"/>
          <p:cNvSpPr txBox="1"/>
          <p:nvPr/>
        </p:nvSpPr>
        <p:spPr>
          <a:xfrm>
            <a:off x="777240" y="379476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 past competition test: PDF, Google Doc or Word, with its answer key.</a:t>
            </a:r>
            <a:endParaRPr lang="en-US" sz="1300" dirty="0"/>
          </a:p>
        </p:txBody>
      </p:sp>
      <p:pic>
        <p:nvPicPr>
          <p:cNvPr id="12" name="arrow-201" descr="th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936" y="3401568"/>
            <a:ext cx="219456" cy="219456"/>
          </a:xfrm>
          <a:prstGeom prst="rect">
            <a:avLst/>
          </a:prstGeom>
        </p:spPr>
      </p:pic>
      <p:sp>
        <p:nvSpPr>
          <p:cNvPr id="13" name="box-202"/>
          <p:cNvSpPr/>
          <p:nvPr/>
        </p:nvSpPr>
        <p:spPr>
          <a:xfrm>
            <a:off x="3390824" y="2514600"/>
            <a:ext cx="2567864" cy="20116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4" name="tile-203"/>
          <p:cNvSpPr/>
          <p:nvPr/>
        </p:nvSpPr>
        <p:spPr>
          <a:xfrm>
            <a:off x="3619424" y="2743200"/>
            <a:ext cx="548640" cy="548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5" name="icon-204" descr="CloudUploa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125" y="2863901"/>
            <a:ext cx="307238" cy="307238"/>
          </a:xfrm>
          <a:prstGeom prst="rect">
            <a:avLst/>
          </a:prstGeom>
        </p:spPr>
      </p:pic>
      <p:sp>
        <p:nvSpPr>
          <p:cNvPr id="16" name="text-205"/>
          <p:cNvSpPr txBox="1"/>
          <p:nvPr/>
        </p:nvSpPr>
        <p:spPr>
          <a:xfrm>
            <a:off x="3619424" y="3429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it in the Drive</a:t>
            </a:r>
            <a:endParaRPr lang="en-US" sz="1700" dirty="0"/>
          </a:p>
        </p:txBody>
      </p:sp>
      <p:sp>
        <p:nvSpPr>
          <p:cNvPr id="17" name="text-206"/>
          <p:cNvSpPr txBox="1"/>
          <p:nvPr/>
        </p:nvSpPr>
        <p:spPr>
          <a:xfrm>
            <a:off x="3619424" y="379476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Upload it to the shared folder (link below).</a:t>
            </a:r>
            <a:endParaRPr lang="en-US" sz="1300" dirty="0"/>
          </a:p>
        </p:txBody>
      </p:sp>
      <p:pic>
        <p:nvPicPr>
          <p:cNvPr id="18" name="arrow-207" descr="th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120" y="3401568"/>
            <a:ext cx="219456" cy="219456"/>
          </a:xfrm>
          <a:prstGeom prst="rect">
            <a:avLst/>
          </a:prstGeom>
        </p:spPr>
      </p:pic>
      <p:sp>
        <p:nvSpPr>
          <p:cNvPr id="19" name="box-208"/>
          <p:cNvSpPr/>
          <p:nvPr/>
        </p:nvSpPr>
        <p:spPr>
          <a:xfrm>
            <a:off x="6233008" y="2514600"/>
            <a:ext cx="2567864" cy="20116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0" name="tile-209"/>
          <p:cNvSpPr/>
          <p:nvPr/>
        </p:nvSpPr>
        <p:spPr>
          <a:xfrm>
            <a:off x="6461608" y="2743200"/>
            <a:ext cx="548640" cy="548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1" name="icon-210" descr="Penci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2308" y="2863901"/>
            <a:ext cx="307238" cy="307238"/>
          </a:xfrm>
          <a:prstGeom prst="rect">
            <a:avLst/>
          </a:prstGeom>
        </p:spPr>
      </p:pic>
      <p:sp>
        <p:nvSpPr>
          <p:cNvPr id="22" name="text-211"/>
          <p:cNvSpPr txBox="1"/>
          <p:nvPr/>
        </p:nvSpPr>
        <p:spPr>
          <a:xfrm>
            <a:off x="6461608" y="3429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 clearly</a:t>
            </a:r>
            <a:endParaRPr lang="en-US" sz="1700" dirty="0"/>
          </a:p>
        </p:txBody>
      </p:sp>
      <p:sp>
        <p:nvSpPr>
          <p:cNvPr id="23" name="text-212"/>
          <p:cNvSpPr txBox="1"/>
          <p:nvPr/>
        </p:nvSpPr>
        <p:spPr>
          <a:xfrm>
            <a:off x="6461608" y="379476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Event + year, e.g. “Medical Terminology 2025”.</a:t>
            </a:r>
            <a:endParaRPr lang="en-US" sz="1300" dirty="0"/>
          </a:p>
        </p:txBody>
      </p:sp>
      <p:pic>
        <p:nvPicPr>
          <p:cNvPr id="24" name="arrow-213" descr="the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8303" y="3401568"/>
            <a:ext cx="219456" cy="219456"/>
          </a:xfrm>
          <a:prstGeom prst="rect">
            <a:avLst/>
          </a:prstGeom>
        </p:spPr>
      </p:pic>
      <p:sp>
        <p:nvSpPr>
          <p:cNvPr id="25" name="box-214"/>
          <p:cNvSpPr/>
          <p:nvPr/>
        </p:nvSpPr>
        <p:spPr>
          <a:xfrm>
            <a:off x="9075191" y="2514600"/>
            <a:ext cx="2567864" cy="201168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6" name="tile-215"/>
          <p:cNvSpPr/>
          <p:nvPr/>
        </p:nvSpPr>
        <p:spPr>
          <a:xfrm>
            <a:off x="9303791" y="2743200"/>
            <a:ext cx="548640" cy="54864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27" name="icon-216" descr="CircleChec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4492" y="2863901"/>
            <a:ext cx="307238" cy="307238"/>
          </a:xfrm>
          <a:prstGeom prst="rect">
            <a:avLst/>
          </a:prstGeom>
        </p:spPr>
      </p:pic>
      <p:sp>
        <p:nvSpPr>
          <p:cNvPr id="28" name="text-217"/>
          <p:cNvSpPr txBox="1"/>
          <p:nvPr/>
        </p:nvSpPr>
        <p:spPr>
          <a:xfrm>
            <a:off x="9303791" y="3429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upload it</a:t>
            </a:r>
            <a:endParaRPr lang="en-US" sz="1700" dirty="0"/>
          </a:p>
        </p:txBody>
      </p:sp>
      <p:sp>
        <p:nvSpPr>
          <p:cNvPr id="29" name="text-218"/>
          <p:cNvSpPr txBox="1"/>
          <p:nvPr/>
        </p:nvSpPr>
        <p:spPr>
          <a:xfrm>
            <a:off x="9303791" y="379476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It shows up as a test in that event's room.</a:t>
            </a:r>
            <a:endParaRPr lang="en-US" sz="1300" dirty="0"/>
          </a:p>
        </p:txBody>
      </p:sp>
      <p:sp>
        <p:nvSpPr>
          <p:cNvPr id="30" name="box-219"/>
          <p:cNvSpPr/>
          <p:nvPr/>
        </p:nvSpPr>
        <p:spPr>
          <a:xfrm>
            <a:off x="548640" y="4846320"/>
            <a:ext cx="11094415" cy="11430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  <a:prstDash val="solid"/>
          </a:ln>
        </p:spPr>
      </p:sp>
      <p:pic>
        <p:nvPicPr>
          <p:cNvPr id="31" name="link-220" descr="Lin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120640"/>
            <a:ext cx="548640" cy="548640"/>
          </a:xfrm>
          <a:prstGeom prst="rect">
            <a:avLst/>
          </a:prstGeom>
        </p:spPr>
      </p:pic>
      <p:sp>
        <p:nvSpPr>
          <p:cNvPr id="32" name="text-221"/>
          <p:cNvSpPr txBox="1"/>
          <p:nvPr/>
        </p:nvSpPr>
        <p:spPr>
          <a:xfrm>
            <a:off x="169164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 FOLDER</a:t>
            </a:r>
            <a:endParaRPr lang="en-US" sz="1100" dirty="0"/>
          </a:p>
        </p:txBody>
      </p:sp>
      <p:sp>
        <p:nvSpPr>
          <p:cNvPr id="33" name="text-222"/>
          <p:cNvSpPr txBox="1"/>
          <p:nvPr/>
        </p:nvSpPr>
        <p:spPr>
          <a:xfrm>
            <a:off x="1691640" y="5285232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the Google Drive folder link here 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settings that matter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223"/>
          <p:cNvSpPr/>
          <p:nvPr/>
        </p:nvSpPr>
        <p:spPr>
          <a:xfrm>
            <a:off x="548640" y="1783080"/>
            <a:ext cx="5440680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ile-224"/>
          <p:cNvSpPr/>
          <p:nvPr/>
        </p:nvSpPr>
        <p:spPr>
          <a:xfrm>
            <a:off x="822960" y="2057400"/>
            <a:ext cx="685800" cy="68580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8" name="icon-225" descr="Tim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2208276"/>
            <a:ext cx="384048" cy="384048"/>
          </a:xfrm>
          <a:prstGeom prst="rect">
            <a:avLst/>
          </a:prstGeom>
        </p:spPr>
      </p:pic>
      <p:sp>
        <p:nvSpPr>
          <p:cNvPr id="9" name="text-226"/>
          <p:cNvSpPr txBox="1"/>
          <p:nvPr/>
        </p:nvSpPr>
        <p:spPr>
          <a:xfrm>
            <a:off x="1737360" y="2057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or practice</a:t>
            </a:r>
            <a:endParaRPr lang="en-US" sz="1900" dirty="0"/>
          </a:p>
        </p:txBody>
      </p:sp>
      <p:sp>
        <p:nvSpPr>
          <p:cNvPr id="10" name="text-227"/>
          <p:cNvSpPr txBox="1"/>
          <p:nvPr/>
        </p:nvSpPr>
        <p:spPr>
          <a:xfrm>
            <a:off x="1737360" y="25146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Put a number in “Time limit (minutes)” for a timed test. Leave it blank and it's practice only.</a:t>
            </a:r>
            <a:endParaRPr lang="en-US" sz="1600" dirty="0"/>
          </a:p>
        </p:txBody>
      </p:sp>
      <p:sp>
        <p:nvSpPr>
          <p:cNvPr id="11" name="box-228"/>
          <p:cNvSpPr/>
          <p:nvPr/>
        </p:nvSpPr>
        <p:spPr>
          <a:xfrm>
            <a:off x="6217920" y="1783080"/>
            <a:ext cx="5440680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2" name="tile-229"/>
          <p:cNvSpPr/>
          <p:nvPr/>
        </p:nvSpPr>
        <p:spPr>
          <a:xfrm>
            <a:off x="6492240" y="2057400"/>
            <a:ext cx="685800" cy="68580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3" name="icon-230" descr="EyeOff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2208276"/>
            <a:ext cx="384048" cy="384048"/>
          </a:xfrm>
          <a:prstGeom prst="rect">
            <a:avLst/>
          </a:prstGeom>
        </p:spPr>
      </p:pic>
      <p:sp>
        <p:nvSpPr>
          <p:cNvPr id="14" name="text-231"/>
          <p:cNvSpPr txBox="1"/>
          <p:nvPr/>
        </p:nvSpPr>
        <p:spPr>
          <a:xfrm>
            <a:off x="7406640" y="2057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correct answers</a:t>
            </a:r>
            <a:endParaRPr lang="en-US" sz="1900" dirty="0"/>
          </a:p>
        </p:txBody>
      </p:sp>
      <p:sp>
        <p:nvSpPr>
          <p:cNvPr id="15" name="text-232"/>
          <p:cNvSpPr txBox="1"/>
          <p:nvPr/>
        </p:nvSpPr>
        <p:spPr>
          <a:xfrm>
            <a:off x="7406640" y="25146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Turn it off for a real mock exam: members only see a score and get 1 attempt.</a:t>
            </a:r>
            <a:endParaRPr lang="en-US" sz="1600" dirty="0"/>
          </a:p>
        </p:txBody>
      </p:sp>
      <p:sp>
        <p:nvSpPr>
          <p:cNvPr id="16" name="box-233"/>
          <p:cNvSpPr/>
          <p:nvPr/>
        </p:nvSpPr>
        <p:spPr>
          <a:xfrm>
            <a:off x="548640" y="3703320"/>
            <a:ext cx="5440680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7" name="tile-234"/>
          <p:cNvSpPr/>
          <p:nvPr/>
        </p:nvSpPr>
        <p:spPr>
          <a:xfrm>
            <a:off x="822960" y="3977640"/>
            <a:ext cx="685800" cy="68580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8" name="icon-235" descr="ListCheck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" y="4128516"/>
            <a:ext cx="384048" cy="384048"/>
          </a:xfrm>
          <a:prstGeom prst="rect">
            <a:avLst/>
          </a:prstGeom>
        </p:spPr>
      </p:pic>
      <p:sp>
        <p:nvSpPr>
          <p:cNvPr id="19" name="text-236"/>
          <p:cNvSpPr txBox="1"/>
          <p:nvPr/>
        </p:nvSpPr>
        <p:spPr>
          <a:xfrm>
            <a:off x="1737360" y="39776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Attempts allowed</a:t>
            </a:r>
            <a:endParaRPr lang="en-US" sz="1900" dirty="0"/>
          </a:p>
        </p:txBody>
      </p:sp>
      <p:sp>
        <p:nvSpPr>
          <p:cNvPr id="20" name="text-237"/>
          <p:cNvSpPr txBox="1"/>
          <p:nvPr/>
        </p:nvSpPr>
        <p:spPr>
          <a:xfrm>
            <a:off x="1737360" y="44348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Blank means unlimited. Practice runs of a timed test don't count.</a:t>
            </a:r>
            <a:endParaRPr lang="en-US" sz="1600" dirty="0"/>
          </a:p>
        </p:txBody>
      </p:sp>
      <p:sp>
        <p:nvSpPr>
          <p:cNvPr id="21" name="box-238"/>
          <p:cNvSpPr/>
          <p:nvPr/>
        </p:nvSpPr>
        <p:spPr>
          <a:xfrm>
            <a:off x="6217920" y="3703320"/>
            <a:ext cx="5440680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2" name="tile-239"/>
          <p:cNvSpPr/>
          <p:nvPr/>
        </p:nvSpPr>
        <p:spPr>
          <a:xfrm>
            <a:off x="6492240" y="3977640"/>
            <a:ext cx="685800" cy="68580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3" name="icon-240" descr="Layer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128516"/>
            <a:ext cx="384048" cy="384048"/>
          </a:xfrm>
          <a:prstGeom prst="rect">
            <a:avLst/>
          </a:prstGeom>
        </p:spPr>
      </p:pic>
      <p:sp>
        <p:nvSpPr>
          <p:cNvPr id="24" name="text-241"/>
          <p:cNvSpPr txBox="1"/>
          <p:nvPr/>
        </p:nvSpPr>
        <p:spPr>
          <a:xfrm>
            <a:off x="7406640" y="39776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</a:t>
            </a:r>
            <a:endParaRPr lang="en-US" sz="1900" dirty="0"/>
          </a:p>
        </p:txBody>
      </p:sp>
      <p:sp>
        <p:nvSpPr>
          <p:cNvPr id="25" name="text-242"/>
          <p:cNvSpPr txBox="1"/>
          <p:nvPr/>
        </p:nvSpPr>
        <p:spPr>
          <a:xfrm>
            <a:off x="7406640" y="44348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Questions and answer choices shuffle by default, so neighbours can't copy.</a:t>
            </a:r>
            <a:endParaRPr lang="en-US" sz="1600" dirty="0"/>
          </a:p>
        </p:txBody>
      </p:sp>
      <p:sp>
        <p:nvSpPr>
          <p:cNvPr id="26" name="text-243"/>
          <p:cNvSpPr txBox="1"/>
          <p:nvPr/>
        </p:nvSpPr>
        <p:spPr>
          <a:xfrm>
            <a:off x="548640" y="5715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Heads up: tests that hide answers or limit attempts can't be used in Battles.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 decks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num-244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xt-245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-246"/>
          <p:cNvSpPr txBox="1"/>
          <p:nvPr/>
        </p:nvSpPr>
        <p:spPr>
          <a:xfrm>
            <a:off x="1188720" y="17647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› Cards › “New event deck”</a:t>
            </a:r>
            <a:endParaRPr lang="en-US" sz="1600" dirty="0"/>
          </a:p>
        </p:txBody>
      </p:sp>
      <p:sp>
        <p:nvSpPr>
          <p:cNvPr id="9" name="text-247"/>
          <p:cNvSpPr txBox="1"/>
          <p:nvPr/>
        </p:nvSpPr>
        <p:spPr>
          <a:xfrm>
            <a:off x="1188720" y="2084832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Title, description, pick the event, then “Make deck”.</a:t>
            </a:r>
            <a:endParaRPr lang="en-US" sz="1400" dirty="0"/>
          </a:p>
        </p:txBody>
      </p:sp>
      <p:sp>
        <p:nvSpPr>
          <p:cNvPr id="10" name="num-248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text-249"/>
          <p:cNvSpPr txBox="1"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-250"/>
          <p:cNvSpPr txBox="1"/>
          <p:nvPr/>
        </p:nvSpPr>
        <p:spPr>
          <a:xfrm>
            <a:off x="1188720" y="28163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cards, or “Paste many”</a:t>
            </a:r>
            <a:endParaRPr lang="en-US" sz="1600" dirty="0"/>
          </a:p>
        </p:txBody>
      </p:sp>
      <p:sp>
        <p:nvSpPr>
          <p:cNvPr id="13" name="text-251"/>
          <p:cNvSpPr txBox="1"/>
          <p:nvPr/>
        </p:nvSpPr>
        <p:spPr>
          <a:xfrm>
            <a:off x="1188720" y="3136392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One card per line. Up to 300 per paste.</a:t>
            </a:r>
            <a:endParaRPr lang="en-US" sz="1400" dirty="0"/>
          </a:p>
        </p:txBody>
      </p:sp>
      <p:sp>
        <p:nvSpPr>
          <p:cNvPr id="14" name="num-252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xt-253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-254"/>
          <p:cNvSpPr txBox="1"/>
          <p:nvPr/>
        </p:nvSpPr>
        <p:spPr>
          <a:xfrm>
            <a:off x="1188720" y="386791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“Share with event”</a:t>
            </a:r>
            <a:endParaRPr lang="en-US" sz="1600" dirty="0"/>
          </a:p>
        </p:txBody>
      </p:sp>
      <p:sp>
        <p:nvSpPr>
          <p:cNvPr id="17" name="text-255"/>
          <p:cNvSpPr txBox="1"/>
          <p:nvPr/>
        </p:nvSpPr>
        <p:spPr>
          <a:xfrm>
            <a:off x="1188720" y="4187952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Your decks are shared with the room. Members' own decks stay private unless they share.</a:t>
            </a:r>
            <a:endParaRPr lang="en-US" sz="1400" dirty="0"/>
          </a:p>
        </p:txBody>
      </p:sp>
      <p:sp>
        <p:nvSpPr>
          <p:cNvPr id="18" name="box-256"/>
          <p:cNvSpPr/>
          <p:nvPr/>
        </p:nvSpPr>
        <p:spPr>
          <a:xfrm>
            <a:off x="6766560" y="1783080"/>
            <a:ext cx="4876495" cy="210312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9" name="text-257"/>
          <p:cNvSpPr txBox="1"/>
          <p:nvPr/>
        </p:nvSpPr>
        <p:spPr>
          <a:xfrm>
            <a:off x="7040880" y="2011680"/>
            <a:ext cx="44192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Tachycardia - fast heart rate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Bradycardia: slow heart rate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Apnea→(tab)→not breathing</a:t>
            </a:r>
            <a:endParaRPr lang="en-US" sz="1500" dirty="0"/>
          </a:p>
        </p:txBody>
      </p:sp>
      <p:sp>
        <p:nvSpPr>
          <p:cNvPr id="20" name="text-258"/>
          <p:cNvSpPr txBox="1"/>
          <p:nvPr/>
        </p:nvSpPr>
        <p:spPr>
          <a:xfrm>
            <a:off x="6766560" y="3977640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Split with a dash, a colon, or a tab (straight from a spreadsheet).</a:t>
            </a:r>
            <a:endParaRPr lang="en-US" sz="1300" dirty="0"/>
          </a:p>
        </p:txBody>
      </p:sp>
      <p:sp>
        <p:nvSpPr>
          <p:cNvPr id="21" name="box-259"/>
          <p:cNvSpPr/>
          <p:nvPr/>
        </p:nvSpPr>
        <p:spPr>
          <a:xfrm>
            <a:off x="6766560" y="4709160"/>
            <a:ext cx="2392528" cy="128016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2" name="tile-260"/>
          <p:cNvSpPr/>
          <p:nvPr/>
        </p:nvSpPr>
        <p:spPr>
          <a:xfrm>
            <a:off x="6949440" y="4892040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23" name="icon-261" descr="BookOpe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4992624"/>
            <a:ext cx="256032" cy="256032"/>
          </a:xfrm>
          <a:prstGeom prst="rect">
            <a:avLst/>
          </a:prstGeom>
        </p:spPr>
      </p:pic>
      <p:sp>
        <p:nvSpPr>
          <p:cNvPr id="24" name="text-262"/>
          <p:cNvSpPr txBox="1"/>
          <p:nvPr/>
        </p:nvSpPr>
        <p:spPr>
          <a:xfrm>
            <a:off x="7543800" y="4910328"/>
            <a:ext cx="1478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</a:t>
            </a:r>
            <a:endParaRPr lang="en-US" sz="1600" dirty="0"/>
          </a:p>
        </p:txBody>
      </p:sp>
      <p:sp>
        <p:nvSpPr>
          <p:cNvPr id="25" name="text-263"/>
          <p:cNvSpPr txBox="1"/>
          <p:nvPr/>
        </p:nvSpPr>
        <p:spPr>
          <a:xfrm>
            <a:off x="6949440" y="5440680"/>
            <a:ext cx="2118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Flip, Know it / Still learning</a:t>
            </a:r>
            <a:endParaRPr lang="en-US" sz="1300" dirty="0"/>
          </a:p>
        </p:txBody>
      </p:sp>
      <p:sp>
        <p:nvSpPr>
          <p:cNvPr id="26" name="box-264"/>
          <p:cNvSpPr/>
          <p:nvPr/>
        </p:nvSpPr>
        <p:spPr>
          <a:xfrm>
            <a:off x="9250528" y="4709160"/>
            <a:ext cx="2392528" cy="128016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7" name="tile-265"/>
          <p:cNvSpPr/>
          <p:nvPr/>
        </p:nvSpPr>
        <p:spPr>
          <a:xfrm>
            <a:off x="9433408" y="4892040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28" name="icon-266" descr="MousePointerCli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992" y="4992624"/>
            <a:ext cx="256032" cy="256032"/>
          </a:xfrm>
          <a:prstGeom prst="rect">
            <a:avLst/>
          </a:prstGeom>
        </p:spPr>
      </p:pic>
      <p:sp>
        <p:nvSpPr>
          <p:cNvPr id="29" name="text-267"/>
          <p:cNvSpPr txBox="1"/>
          <p:nvPr/>
        </p:nvSpPr>
        <p:spPr>
          <a:xfrm>
            <a:off x="10027768" y="4910328"/>
            <a:ext cx="1478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600" dirty="0"/>
          </a:p>
        </p:txBody>
      </p:sp>
      <p:sp>
        <p:nvSpPr>
          <p:cNvPr id="30" name="text-268"/>
          <p:cNvSpPr txBox="1"/>
          <p:nvPr/>
        </p:nvSpPr>
        <p:spPr>
          <a:xfrm>
            <a:off x="9433408" y="5440680"/>
            <a:ext cx="2118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Timed matching game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1546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tools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Everything that runs the chapter, not just one event.</a:t>
            </a:r>
            <a:endParaRPr lang="en-US" sz="1800" dirty="0"/>
          </a:p>
        </p:txBody>
      </p:sp>
      <p:pic>
        <p:nvPicPr>
          <p:cNvPr id="5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143000"/>
            <a:ext cx="3931920" cy="3698881"/>
          </a:xfrm>
          <a:prstGeom prst="rect">
            <a:avLst/>
          </a:prstGeom>
        </p:spPr>
      </p:pic>
      <p:sp>
        <p:nvSpPr>
          <p:cNvPr id="6" name="!!ecg"/>
          <p:cNvSpPr/>
          <p:nvPr/>
        </p:nvSpPr>
        <p:spPr>
          <a:xfrm>
            <a:off x="0" y="5715000"/>
            <a:ext cx="12191695" cy="822960"/>
          </a:xfrm>
          <a:custGeom>
            <a:avLst/>
            <a:gdLst/>
            <a:ahLst/>
            <a:cxnLst/>
            <a:rect l="l" t="t" r="r" b="b"/>
            <a:pathLst>
              <a:path w="12191695" h="822960">
                <a:moveTo>
                  <a:pt x="0" y="510235"/>
                </a:moveTo>
                <a:lnTo>
                  <a:pt x="3657509" y="510235"/>
                </a:lnTo>
                <a:lnTo>
                  <a:pt x="4145176" y="427939"/>
                </a:lnTo>
                <a:lnTo>
                  <a:pt x="4632844" y="510235"/>
                </a:lnTo>
                <a:lnTo>
                  <a:pt x="5364346" y="510235"/>
                </a:lnTo>
                <a:lnTo>
                  <a:pt x="5730097" y="608990"/>
                </a:lnTo>
                <a:lnTo>
                  <a:pt x="6217765" y="16459"/>
                </a:lnTo>
                <a:lnTo>
                  <a:pt x="6766391" y="822960"/>
                </a:lnTo>
                <a:lnTo>
                  <a:pt x="7193100" y="510235"/>
                </a:lnTo>
                <a:lnTo>
                  <a:pt x="8046519" y="510235"/>
                </a:lnTo>
                <a:lnTo>
                  <a:pt x="8656104" y="362102"/>
                </a:lnTo>
                <a:lnTo>
                  <a:pt x="9387605" y="510235"/>
                </a:lnTo>
                <a:lnTo>
                  <a:pt x="12191695" y="510235"/>
                </a:lnTo>
              </a:path>
            </a:pathLst>
          </a:custGeom>
          <a:ln w="38100">
            <a:solidFill>
              <a:schemeClr val="accent2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TOOLS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 and the calendar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269"/>
          <p:cNvSpPr/>
          <p:nvPr/>
        </p:nvSpPr>
        <p:spPr>
          <a:xfrm>
            <a:off x="548640" y="1737360"/>
            <a:ext cx="5440680" cy="40690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ile-270"/>
          <p:cNvSpPr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8" name="icon-271" descr="Megapho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2162556"/>
            <a:ext cx="384048" cy="384048"/>
          </a:xfrm>
          <a:prstGeom prst="rect">
            <a:avLst/>
          </a:prstGeom>
        </p:spPr>
      </p:pic>
      <p:sp>
        <p:nvSpPr>
          <p:cNvPr id="9" name="text-272"/>
          <p:cNvSpPr txBox="1"/>
          <p:nvPr/>
        </p:nvSpPr>
        <p:spPr>
          <a:xfrm>
            <a:off x="1737360" y="20116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</a:t>
            </a:r>
            <a:endParaRPr lang="en-US" sz="2200" dirty="0"/>
          </a:p>
        </p:txBody>
      </p:sp>
      <p:sp>
        <p:nvSpPr>
          <p:cNvPr id="10" name="text-273"/>
          <p:cNvSpPr txBox="1"/>
          <p:nvPr/>
        </p:nvSpPr>
        <p:spPr>
          <a:xfrm>
            <a:off x="822960" y="292608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Chapter-wide: Announcements › “Post to the chapter”</a:t>
            </a:r>
            <a:endParaRPr lang="en-US" sz="17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chemeClr val="accent3"/>
                </a:solidFill>
              </a:rPr>
              <a:t>execs only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One event: the room's Overview › News › “Post”</a:t>
            </a:r>
            <a:endParaRPr lang="en-US" sz="17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chemeClr val="accent3"/>
                </a:solidFill>
              </a:rPr>
              <a:t>its trainer or any exec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Headline + details. Tick “Pin to the top” for important ones.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Posting notifies everyone it's for (bell and phone).</a:t>
            </a:r>
            <a:endParaRPr lang="en-US" sz="1700" dirty="0"/>
          </a:p>
        </p:txBody>
      </p:sp>
      <p:sp>
        <p:nvSpPr>
          <p:cNvPr id="11" name="box-274"/>
          <p:cNvSpPr/>
          <p:nvPr/>
        </p:nvSpPr>
        <p:spPr>
          <a:xfrm>
            <a:off x="6217920" y="1737360"/>
            <a:ext cx="5440680" cy="40690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2" name="tile-275"/>
          <p:cNvSpPr/>
          <p:nvPr/>
        </p:nvSpPr>
        <p:spPr>
          <a:xfrm>
            <a:off x="6492240" y="2011680"/>
            <a:ext cx="685800" cy="6858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3" name="icon-276" descr="CalendarDay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2162556"/>
            <a:ext cx="384048" cy="384048"/>
          </a:xfrm>
          <a:prstGeom prst="rect">
            <a:avLst/>
          </a:prstGeom>
        </p:spPr>
      </p:pic>
      <p:sp>
        <p:nvSpPr>
          <p:cNvPr id="14" name="text-277"/>
          <p:cNvSpPr txBox="1"/>
          <p:nvPr/>
        </p:nvSpPr>
        <p:spPr>
          <a:xfrm>
            <a:off x="7406640" y="20116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2200" dirty="0"/>
          </a:p>
        </p:txBody>
      </p:sp>
      <p:sp>
        <p:nvSpPr>
          <p:cNvPr id="15" name="text-278"/>
          <p:cNvSpPr txBox="1"/>
          <p:nvPr/>
        </p:nvSpPr>
        <p:spPr>
          <a:xfrm>
            <a:off x="6492240" y="292608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Calendar › “Add an event”</a:t>
            </a:r>
            <a:endParaRPr lang="en-US" sz="17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chemeClr val="accent3"/>
                </a:solidFill>
              </a:rPr>
              <a:t>Month or List view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For: Whole chapter, one event, or Just me</a:t>
            </a:r>
            <a:endParaRPr lang="en-US" sz="17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chemeClr val="accent3"/>
                </a:solidFill>
              </a:rPr>
              <a:t>Whole chapter is exec only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Times are Toronto time. Add where and details.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Everyone gets a “Today: ...” reminder on the day.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TOOLS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and links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279"/>
          <p:cNvSpPr/>
          <p:nvPr/>
        </p:nvSpPr>
        <p:spPr>
          <a:xfrm>
            <a:off x="548640" y="1783080"/>
            <a:ext cx="3657600" cy="192024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ext-280"/>
          <p:cNvSpPr txBox="1"/>
          <p:nvPr/>
        </p:nvSpPr>
        <p:spPr>
          <a:xfrm>
            <a:off x="86868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MB</a:t>
            </a:r>
            <a:endParaRPr lang="en-US" sz="5400" dirty="0"/>
          </a:p>
        </p:txBody>
      </p:sp>
      <p:sp>
        <p:nvSpPr>
          <p:cNvPr id="8" name="text-281"/>
          <p:cNvSpPr txBox="1"/>
          <p:nvPr/>
        </p:nvSpPr>
        <p:spPr>
          <a:xfrm>
            <a:off x="86868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max per file</a:t>
            </a:r>
            <a:endParaRPr lang="en-US" sz="1600" dirty="0"/>
          </a:p>
        </p:txBody>
      </p:sp>
      <p:sp>
        <p:nvSpPr>
          <p:cNvPr id="9" name="box-282"/>
          <p:cNvSpPr/>
          <p:nvPr/>
        </p:nvSpPr>
        <p:spPr>
          <a:xfrm>
            <a:off x="548640" y="3931920"/>
            <a:ext cx="3657600" cy="1920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0" name="text-283"/>
          <p:cNvSpPr txBox="1"/>
          <p:nvPr/>
        </p:nvSpPr>
        <p:spPr>
          <a:xfrm>
            <a:off x="868680" y="4160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</a:t>
            </a:r>
            <a:endParaRPr lang="en-US" sz="5400" dirty="0"/>
          </a:p>
        </p:txBody>
      </p:sp>
      <p:sp>
        <p:nvSpPr>
          <p:cNvPr id="11" name="text-284"/>
          <p:cNvSpPr txBox="1"/>
          <p:nvPr/>
        </p:nvSpPr>
        <p:spPr>
          <a:xfrm>
            <a:off x="86868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storage for the whole site</a:t>
            </a:r>
            <a:endParaRPr lang="en-US" sz="1600" dirty="0"/>
          </a:p>
        </p:txBody>
      </p:sp>
      <p:sp>
        <p:nvSpPr>
          <p:cNvPr id="12" name="tile-285"/>
          <p:cNvSpPr/>
          <p:nvPr/>
        </p:nvSpPr>
        <p:spPr>
          <a:xfrm>
            <a:off x="4663440" y="1783080"/>
            <a:ext cx="640080" cy="64008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3" name="icon-286" descr="FolderOpe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258" y="1923898"/>
            <a:ext cx="358445" cy="358445"/>
          </a:xfrm>
          <a:prstGeom prst="rect">
            <a:avLst/>
          </a:prstGeom>
        </p:spPr>
      </p:pic>
      <p:sp>
        <p:nvSpPr>
          <p:cNvPr id="14" name="text-287"/>
          <p:cNvSpPr txBox="1"/>
          <p:nvPr/>
        </p:nvSpPr>
        <p:spPr>
          <a:xfrm>
            <a:off x="5532120" y="176479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 event</a:t>
            </a:r>
            <a:endParaRPr lang="en-US" sz="1700" dirty="0"/>
          </a:p>
        </p:txBody>
      </p:sp>
      <p:sp>
        <p:nvSpPr>
          <p:cNvPr id="15" name="text-288"/>
          <p:cNvSpPr txBox="1"/>
          <p:nvPr/>
        </p:nvSpPr>
        <p:spPr>
          <a:xfrm>
            <a:off x="5532120" y="211226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Resources tab › “Add a file or link”. Trainers and execs.</a:t>
            </a:r>
            <a:endParaRPr lang="en-US" sz="1400" dirty="0"/>
          </a:p>
        </p:txBody>
      </p:sp>
      <p:sp>
        <p:nvSpPr>
          <p:cNvPr id="16" name="tile-289"/>
          <p:cNvSpPr/>
          <p:nvPr/>
        </p:nvSpPr>
        <p:spPr>
          <a:xfrm>
            <a:off x="4663440" y="2862072"/>
            <a:ext cx="640080" cy="64008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7" name="icon-290" descr="BookOpe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258" y="3002890"/>
            <a:ext cx="358445" cy="358445"/>
          </a:xfrm>
          <a:prstGeom prst="rect">
            <a:avLst/>
          </a:prstGeom>
        </p:spPr>
      </p:pic>
      <p:sp>
        <p:nvSpPr>
          <p:cNvPr id="18" name="text-291"/>
          <p:cNvSpPr txBox="1"/>
          <p:nvPr/>
        </p:nvSpPr>
        <p:spPr>
          <a:xfrm>
            <a:off x="5532120" y="284378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chapter</a:t>
            </a:r>
            <a:endParaRPr lang="en-US" sz="1700" dirty="0"/>
          </a:p>
        </p:txBody>
      </p:sp>
      <p:sp>
        <p:nvSpPr>
          <p:cNvPr id="19" name="text-292"/>
          <p:cNvSpPr txBox="1"/>
          <p:nvPr/>
        </p:nvSpPr>
        <p:spPr>
          <a:xfrm>
            <a:off x="5532120" y="3191256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Resources in the sidebar is the chapter shelf. Execs add under “Add a resource”.</a:t>
            </a:r>
            <a:endParaRPr lang="en-US" sz="1400" dirty="0"/>
          </a:p>
        </p:txBody>
      </p:sp>
      <p:sp>
        <p:nvSpPr>
          <p:cNvPr id="20" name="tile-293"/>
          <p:cNvSpPr/>
          <p:nvPr/>
        </p:nvSpPr>
        <p:spPr>
          <a:xfrm>
            <a:off x="4663440" y="3941064"/>
            <a:ext cx="640080" cy="64008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1" name="icon-294" descr="Fold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258" y="4081882"/>
            <a:ext cx="358445" cy="358445"/>
          </a:xfrm>
          <a:prstGeom prst="rect">
            <a:avLst/>
          </a:prstGeom>
        </p:spPr>
      </p:pic>
      <p:sp>
        <p:nvSpPr>
          <p:cNvPr id="22" name="text-295"/>
          <p:cNvSpPr txBox="1"/>
          <p:nvPr/>
        </p:nvSpPr>
        <p:spPr>
          <a:xfrm>
            <a:off x="5532120" y="3922776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sections</a:t>
            </a:r>
            <a:endParaRPr lang="en-US" sz="1700" dirty="0"/>
          </a:p>
        </p:txBody>
      </p:sp>
      <p:sp>
        <p:nvSpPr>
          <p:cNvPr id="23" name="text-296"/>
          <p:cNvSpPr txBox="1"/>
          <p:nvPr/>
        </p:nvSpPr>
        <p:spPr>
          <a:xfrm>
            <a:off x="5532120" y="427024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Type a section like “Past tests” or “Textbooks” to group files.</a:t>
            </a:r>
            <a:endParaRPr lang="en-US" sz="1400" dirty="0"/>
          </a:p>
        </p:txBody>
      </p:sp>
      <p:sp>
        <p:nvSpPr>
          <p:cNvPr id="24" name="tile-297"/>
          <p:cNvSpPr/>
          <p:nvPr/>
        </p:nvSpPr>
        <p:spPr>
          <a:xfrm>
            <a:off x="4663440" y="5020056"/>
            <a:ext cx="640080" cy="64008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25" name="icon-298" descr="Lin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258" y="5160874"/>
            <a:ext cx="358445" cy="358445"/>
          </a:xfrm>
          <a:prstGeom prst="rect">
            <a:avLst/>
          </a:prstGeom>
        </p:spPr>
      </p:pic>
      <p:sp>
        <p:nvSpPr>
          <p:cNvPr id="26" name="text-299"/>
          <p:cNvSpPr txBox="1"/>
          <p:nvPr/>
        </p:nvSpPr>
        <p:spPr>
          <a:xfrm>
            <a:off x="5532120" y="50017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big?</a:t>
            </a:r>
            <a:endParaRPr lang="en-US" sz="1700" dirty="0"/>
          </a:p>
        </p:txBody>
      </p:sp>
      <p:sp>
        <p:nvSpPr>
          <p:cNvPr id="27" name="text-300"/>
          <p:cNvSpPr txBox="1"/>
          <p:nvPr/>
        </p:nvSpPr>
        <p:spPr>
          <a:xfrm>
            <a:off x="5532120" y="53492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Over 50 MB, add it as a link instead (e.g. a Drive link).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TOOLS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attendance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301"/>
          <p:cNvSpPr/>
          <p:nvPr/>
        </p:nvSpPr>
        <p:spPr>
          <a:xfrm>
            <a:off x="548640" y="1783080"/>
            <a:ext cx="4846320" cy="420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ext-302"/>
          <p:cNvSpPr txBox="1"/>
          <p:nvPr/>
        </p:nvSpPr>
        <p:spPr>
          <a:xfrm>
            <a:off x="822960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EVENTS · THIS MEETING</a:t>
            </a:r>
            <a:endParaRPr lang="en-US" sz="1100" dirty="0"/>
          </a:p>
        </p:txBody>
      </p:sp>
      <p:sp>
        <p:nvSpPr>
          <p:cNvPr id="8" name="rule-303"/>
          <p:cNvSpPr/>
          <p:nvPr/>
        </p:nvSpPr>
        <p:spPr>
          <a:xfrm>
            <a:off x="822960" y="3035808"/>
            <a:ext cx="4297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-304"/>
          <p:cNvSpPr txBox="1"/>
          <p:nvPr/>
        </p:nvSpPr>
        <p:spPr>
          <a:xfrm>
            <a:off x="822960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Member A</a:t>
            </a:r>
            <a:endParaRPr lang="en-US" sz="1500" dirty="0"/>
          </a:p>
        </p:txBody>
      </p:sp>
      <p:sp>
        <p:nvSpPr>
          <p:cNvPr id="10" name="mark-305"/>
          <p:cNvSpPr/>
          <p:nvPr/>
        </p:nvSpPr>
        <p:spPr>
          <a:xfrm>
            <a:off x="3429000" y="2542032"/>
            <a:ext cx="1691640" cy="384048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1" name="text-306"/>
          <p:cNvSpPr txBox="1"/>
          <p:nvPr/>
        </p:nvSpPr>
        <p:spPr>
          <a:xfrm>
            <a:off x="342900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</a:t>
            </a:r>
            <a:endParaRPr lang="en-US" sz="1300" dirty="0"/>
          </a:p>
        </p:txBody>
      </p:sp>
      <p:sp>
        <p:nvSpPr>
          <p:cNvPr id="12" name="rule-307"/>
          <p:cNvSpPr/>
          <p:nvPr/>
        </p:nvSpPr>
        <p:spPr>
          <a:xfrm>
            <a:off x="822960" y="3694176"/>
            <a:ext cx="4297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-308"/>
          <p:cNvSpPr txBox="1"/>
          <p:nvPr/>
        </p:nvSpPr>
        <p:spPr>
          <a:xfrm>
            <a:off x="822960" y="3127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Member B</a:t>
            </a:r>
            <a:endParaRPr lang="en-US" sz="1500" dirty="0"/>
          </a:p>
        </p:txBody>
      </p:sp>
      <p:sp>
        <p:nvSpPr>
          <p:cNvPr id="14" name="mark-309"/>
          <p:cNvSpPr/>
          <p:nvPr/>
        </p:nvSpPr>
        <p:spPr>
          <a:xfrm>
            <a:off x="3429000" y="3200400"/>
            <a:ext cx="1691640" cy="384048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5" name="text-310"/>
          <p:cNvSpPr txBox="1"/>
          <p:nvPr/>
        </p:nvSpPr>
        <p:spPr>
          <a:xfrm>
            <a:off x="3429000" y="32004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</a:t>
            </a:r>
            <a:endParaRPr lang="en-US" sz="1300" dirty="0"/>
          </a:p>
        </p:txBody>
      </p:sp>
      <p:sp>
        <p:nvSpPr>
          <p:cNvPr id="16" name="rule-311"/>
          <p:cNvSpPr/>
          <p:nvPr/>
        </p:nvSpPr>
        <p:spPr>
          <a:xfrm>
            <a:off x="822960" y="4352544"/>
            <a:ext cx="4297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-312"/>
          <p:cNvSpPr txBox="1"/>
          <p:nvPr/>
        </p:nvSpPr>
        <p:spPr>
          <a:xfrm>
            <a:off x="822960" y="37856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Member C</a:t>
            </a:r>
            <a:endParaRPr lang="en-US" sz="1500" dirty="0"/>
          </a:p>
        </p:txBody>
      </p:sp>
      <p:sp>
        <p:nvSpPr>
          <p:cNvPr id="18" name="mark-313"/>
          <p:cNvSpPr/>
          <p:nvPr/>
        </p:nvSpPr>
        <p:spPr>
          <a:xfrm>
            <a:off x="3429000" y="3858768"/>
            <a:ext cx="1691640" cy="38404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-314"/>
          <p:cNvSpPr txBox="1"/>
          <p:nvPr/>
        </p:nvSpPr>
        <p:spPr>
          <a:xfrm>
            <a:off x="3429000" y="38587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Absent</a:t>
            </a:r>
            <a:endParaRPr lang="en-US" sz="1300" dirty="0"/>
          </a:p>
        </p:txBody>
      </p:sp>
      <p:sp>
        <p:nvSpPr>
          <p:cNvPr id="20" name="rule-315"/>
          <p:cNvSpPr/>
          <p:nvPr/>
        </p:nvSpPr>
        <p:spPr>
          <a:xfrm>
            <a:off x="822960" y="5010912"/>
            <a:ext cx="4297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text-316"/>
          <p:cNvSpPr txBox="1"/>
          <p:nvPr/>
        </p:nvSpPr>
        <p:spPr>
          <a:xfrm>
            <a:off x="822960" y="444398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Member D</a:t>
            </a:r>
            <a:endParaRPr lang="en-US" sz="1500" dirty="0"/>
          </a:p>
        </p:txBody>
      </p:sp>
      <p:sp>
        <p:nvSpPr>
          <p:cNvPr id="22" name="mark-317"/>
          <p:cNvSpPr/>
          <p:nvPr/>
        </p:nvSpPr>
        <p:spPr>
          <a:xfrm>
            <a:off x="3429000" y="4517136"/>
            <a:ext cx="1691640" cy="384048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3" name="text-318"/>
          <p:cNvSpPr txBox="1"/>
          <p:nvPr/>
        </p:nvSpPr>
        <p:spPr>
          <a:xfrm>
            <a:off x="3429000" y="45171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</a:t>
            </a:r>
            <a:endParaRPr lang="en-US" sz="1300" dirty="0"/>
          </a:p>
        </p:txBody>
      </p:sp>
      <p:sp>
        <p:nvSpPr>
          <p:cNvPr id="24" name="all-319"/>
          <p:cNvSpPr/>
          <p:nvPr/>
        </p:nvSpPr>
        <p:spPr>
          <a:xfrm>
            <a:off x="822960" y="5257800"/>
            <a:ext cx="2194560" cy="43891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5" name="text-320"/>
          <p:cNvSpPr txBox="1"/>
          <p:nvPr/>
        </p:nvSpPr>
        <p:spPr>
          <a:xfrm>
            <a:off x="822960" y="52578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Mark all present</a:t>
            </a:r>
            <a:endParaRPr lang="en-US" sz="1300" dirty="0"/>
          </a:p>
        </p:txBody>
      </p:sp>
      <p:sp>
        <p:nvSpPr>
          <p:cNvPr id="26" name="text-321"/>
          <p:cNvSpPr txBox="1"/>
          <p:nvPr/>
        </p:nvSpPr>
        <p:spPr>
          <a:xfrm>
            <a:off x="5852160" y="178308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› Attendance</a:t>
            </a:r>
            <a:endParaRPr lang="en-US" sz="1800" dirty="0"/>
          </a:p>
        </p:txBody>
      </p:sp>
      <p:sp>
        <p:nvSpPr>
          <p:cNvPr id="27" name="text-322"/>
          <p:cNvSpPr txBox="1"/>
          <p:nvPr/>
        </p:nvSpPr>
        <p:spPr>
          <a:xfrm>
            <a:off x="5852160" y="2148840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Execs. Three tabs:</a:t>
            </a:r>
            <a:endParaRPr lang="en-US" sz="1400" dirty="0"/>
          </a:p>
        </p:txBody>
      </p:sp>
      <p:sp>
        <p:nvSpPr>
          <p:cNvPr id="28" name="text-323"/>
          <p:cNvSpPr txBox="1"/>
          <p:nvPr/>
        </p:nvSpPr>
        <p:spPr>
          <a:xfrm>
            <a:off x="5852160" y="2496312"/>
            <a:ext cx="579089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events: one meeting, every event, one tap each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Season sheet: one event across the whole year, with totals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Reports: who needs a check-in, perfect attendance, most absences</a:t>
            </a:r>
            <a:endParaRPr lang="en-US" sz="1500" dirty="0"/>
          </a:p>
        </p:txBody>
      </p:sp>
      <p:sp>
        <p:nvSpPr>
          <p:cNvPr id="29" name="text-324"/>
          <p:cNvSpPr txBox="1"/>
          <p:nvPr/>
        </p:nvSpPr>
        <p:spPr>
          <a:xfrm>
            <a:off x="5852160" y="411480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event's Attendance tab</a:t>
            </a:r>
            <a:endParaRPr lang="en-US" sz="1800" dirty="0"/>
          </a:p>
        </p:txBody>
      </p:sp>
      <p:sp>
        <p:nvSpPr>
          <p:cNvPr id="30" name="text-325"/>
          <p:cNvSpPr txBox="1"/>
          <p:nvPr/>
        </p:nvSpPr>
        <p:spPr>
          <a:xfrm>
            <a:off x="5852160" y="4480560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Trainers. Tap a name to cycle</a:t>
            </a:r>
            <a:endParaRPr lang="en-US" sz="1400" dirty="0"/>
          </a:p>
        </p:txBody>
      </p:sp>
      <p:sp>
        <p:nvSpPr>
          <p:cNvPr id="31" name="text-326"/>
          <p:cNvSpPr txBox="1"/>
          <p:nvPr/>
        </p:nvSpPr>
        <p:spPr>
          <a:xfrm>
            <a:off x="5852160" y="4828032"/>
            <a:ext cx="57908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Attended → Late → Absent → Excused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Nothing saves until “Submit attendance”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TOOLS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page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text-327"/>
          <p:cNvSpPr txBox="1"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Execs only. Every member has a “Manage” button that opens their panel.</a:t>
            </a:r>
            <a:endParaRPr lang="en-US" sz="1600" dirty="0"/>
          </a:p>
        </p:txBody>
      </p:sp>
      <p:sp>
        <p:nvSpPr>
          <p:cNvPr id="7" name="box-328"/>
          <p:cNvSpPr/>
          <p:nvPr/>
        </p:nvSpPr>
        <p:spPr>
          <a:xfrm>
            <a:off x="548640" y="2011680"/>
            <a:ext cx="3566160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8" name="tile-329"/>
          <p:cNvSpPr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9" name="icon-330" descr="UserCo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360981"/>
            <a:ext cx="307238" cy="307238"/>
          </a:xfrm>
          <a:prstGeom prst="rect">
            <a:avLst/>
          </a:prstGeom>
        </p:spPr>
      </p:pic>
      <p:sp>
        <p:nvSpPr>
          <p:cNvPr id="10" name="text-331"/>
          <p:cNvSpPr txBox="1"/>
          <p:nvPr/>
        </p:nvSpPr>
        <p:spPr>
          <a:xfrm>
            <a:off x="1463040" y="22677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800" dirty="0"/>
          </a:p>
        </p:txBody>
      </p:sp>
      <p:sp>
        <p:nvSpPr>
          <p:cNvPr id="11" name="text-332"/>
          <p:cNvSpPr txBox="1"/>
          <p:nvPr/>
        </p:nvSpPr>
        <p:spPr>
          <a:xfrm>
            <a:off x="77724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Jobless, Trainee or Trainer. Confirm with “Yes, change it”.</a:t>
            </a:r>
            <a:endParaRPr lang="en-US" sz="1400" dirty="0"/>
          </a:p>
        </p:txBody>
      </p:sp>
      <p:sp>
        <p:nvSpPr>
          <p:cNvPr id="12" name="box-333"/>
          <p:cNvSpPr/>
          <p:nvPr/>
        </p:nvSpPr>
        <p:spPr>
          <a:xfrm>
            <a:off x="4315968" y="2011680"/>
            <a:ext cx="3566160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3" name="tile-334"/>
          <p:cNvSpPr/>
          <p:nvPr/>
        </p:nvSpPr>
        <p:spPr>
          <a:xfrm>
            <a:off x="4544568" y="2240280"/>
            <a:ext cx="548640" cy="548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4" name="icon-335" descr="TriangleAler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269" y="2360981"/>
            <a:ext cx="307238" cy="307238"/>
          </a:xfrm>
          <a:prstGeom prst="rect">
            <a:avLst/>
          </a:prstGeom>
        </p:spPr>
      </p:pic>
      <p:sp>
        <p:nvSpPr>
          <p:cNvPr id="15" name="text-336"/>
          <p:cNvSpPr txBox="1"/>
          <p:nvPr/>
        </p:nvSpPr>
        <p:spPr>
          <a:xfrm>
            <a:off x="5230368" y="22677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1800" dirty="0"/>
          </a:p>
        </p:txBody>
      </p:sp>
      <p:sp>
        <p:nvSpPr>
          <p:cNvPr id="16" name="text-337"/>
          <p:cNvSpPr txBox="1"/>
          <p:nvPr/>
        </p:nvSpPr>
        <p:spPr>
          <a:xfrm>
            <a:off x="4544568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Sends a message that sits at the top of their screen until they tap Got it.</a:t>
            </a:r>
            <a:endParaRPr lang="en-US" sz="1400" dirty="0"/>
          </a:p>
        </p:txBody>
      </p:sp>
      <p:sp>
        <p:nvSpPr>
          <p:cNvPr id="17" name="box-338"/>
          <p:cNvSpPr/>
          <p:nvPr/>
        </p:nvSpPr>
        <p:spPr>
          <a:xfrm>
            <a:off x="8083296" y="2011680"/>
            <a:ext cx="3566160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8" name="tile-339"/>
          <p:cNvSpPr/>
          <p:nvPr/>
        </p:nvSpPr>
        <p:spPr>
          <a:xfrm>
            <a:off x="8311896" y="2240280"/>
            <a:ext cx="548640" cy="54864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9" name="icon-340" descr="Ba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597" y="2360981"/>
            <a:ext cx="307238" cy="307238"/>
          </a:xfrm>
          <a:prstGeom prst="rect">
            <a:avLst/>
          </a:prstGeom>
        </p:spPr>
      </p:pic>
      <p:sp>
        <p:nvSpPr>
          <p:cNvPr id="20" name="text-341"/>
          <p:cNvSpPr txBox="1"/>
          <p:nvPr/>
        </p:nvSpPr>
        <p:spPr>
          <a:xfrm>
            <a:off x="8997696" y="22677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</a:t>
            </a:r>
            <a:endParaRPr lang="en-US" sz="1800" dirty="0"/>
          </a:p>
        </p:txBody>
      </p:sp>
      <p:sp>
        <p:nvSpPr>
          <p:cNvPr id="21" name="text-342"/>
          <p:cNvSpPr txBox="1"/>
          <p:nvPr/>
        </p:nvSpPr>
        <p:spPr>
          <a:xfrm>
            <a:off x="8311896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 day, 1 week, 1 month, a date, or for good. Lift it any time.</a:t>
            </a:r>
            <a:endParaRPr lang="en-US" sz="1400" dirty="0"/>
          </a:p>
        </p:txBody>
      </p:sp>
      <p:sp>
        <p:nvSpPr>
          <p:cNvPr id="22" name="box-343"/>
          <p:cNvSpPr/>
          <p:nvPr/>
        </p:nvSpPr>
        <p:spPr>
          <a:xfrm>
            <a:off x="548640" y="3904488"/>
            <a:ext cx="3566160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3" name="tile-344"/>
          <p:cNvSpPr/>
          <p:nvPr/>
        </p:nvSpPr>
        <p:spPr>
          <a:xfrm>
            <a:off x="777240" y="4133088"/>
            <a:ext cx="548640" cy="548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4" name="icon-345" descr="Lo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253789"/>
            <a:ext cx="307238" cy="307238"/>
          </a:xfrm>
          <a:prstGeom prst="rect">
            <a:avLst/>
          </a:prstGeom>
        </p:spPr>
      </p:pic>
      <p:sp>
        <p:nvSpPr>
          <p:cNvPr id="25" name="text-346"/>
          <p:cNvSpPr txBox="1"/>
          <p:nvPr/>
        </p:nvSpPr>
        <p:spPr>
          <a:xfrm>
            <a:off x="146304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code</a:t>
            </a:r>
            <a:endParaRPr lang="en-US" sz="1800" dirty="0"/>
          </a:p>
        </p:txBody>
      </p:sp>
      <p:sp>
        <p:nvSpPr>
          <p:cNvPr id="26" name="text-347"/>
          <p:cNvSpPr txBox="1"/>
          <p:nvPr/>
        </p:nvSpPr>
        <p:spPr>
          <a:xfrm>
            <a:off x="777240" y="48188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Set one and new sign-ups need it. Keeps strangers out.</a:t>
            </a:r>
            <a:endParaRPr lang="en-US" sz="1400" dirty="0"/>
          </a:p>
        </p:txBody>
      </p:sp>
      <p:sp>
        <p:nvSpPr>
          <p:cNvPr id="27" name="box-348"/>
          <p:cNvSpPr/>
          <p:nvPr/>
        </p:nvSpPr>
        <p:spPr>
          <a:xfrm>
            <a:off x="4315968" y="3904488"/>
            <a:ext cx="3566160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8" name="tile-349"/>
          <p:cNvSpPr/>
          <p:nvPr/>
        </p:nvSpPr>
        <p:spPr>
          <a:xfrm>
            <a:off x="4544568" y="4133088"/>
            <a:ext cx="548640" cy="548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9" name="icon-350" descr="FolderOpe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269" y="4253789"/>
            <a:ext cx="307238" cy="307238"/>
          </a:xfrm>
          <a:prstGeom prst="rect">
            <a:avLst/>
          </a:prstGeom>
        </p:spPr>
      </p:pic>
      <p:sp>
        <p:nvSpPr>
          <p:cNvPr id="30" name="text-351"/>
          <p:cNvSpPr txBox="1"/>
          <p:nvPr/>
        </p:nvSpPr>
        <p:spPr>
          <a:xfrm>
            <a:off x="5230368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content</a:t>
            </a:r>
            <a:endParaRPr lang="en-US" sz="1800" dirty="0"/>
          </a:p>
        </p:txBody>
      </p:sp>
      <p:sp>
        <p:nvSpPr>
          <p:cNvPr id="31" name="text-352"/>
          <p:cNvSpPr txBox="1"/>
          <p:nvPr/>
        </p:nvSpPr>
        <p:spPr>
          <a:xfrm>
            <a:off x="4544568" y="48188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Every event, test, deck and file in one list, each with Delete.</a:t>
            </a:r>
            <a:endParaRPr lang="en-US" sz="1400" dirty="0"/>
          </a:p>
        </p:txBody>
      </p:sp>
      <p:sp>
        <p:nvSpPr>
          <p:cNvPr id="32" name="box-353"/>
          <p:cNvSpPr/>
          <p:nvPr/>
        </p:nvSpPr>
        <p:spPr>
          <a:xfrm>
            <a:off x="8083296" y="3904488"/>
            <a:ext cx="3566160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3" name="tile-354"/>
          <p:cNvSpPr/>
          <p:nvPr/>
        </p:nvSpPr>
        <p:spPr>
          <a:xfrm>
            <a:off x="8311896" y="4133088"/>
            <a:ext cx="548640" cy="548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4" name="icon-355" descr="Activity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2597" y="4253789"/>
            <a:ext cx="307238" cy="307238"/>
          </a:xfrm>
          <a:prstGeom prst="rect">
            <a:avLst/>
          </a:prstGeom>
        </p:spPr>
      </p:pic>
      <p:sp>
        <p:nvSpPr>
          <p:cNvPr id="35" name="text-356"/>
          <p:cNvSpPr txBox="1"/>
          <p:nvPr/>
        </p:nvSpPr>
        <p:spPr>
          <a:xfrm>
            <a:off x="8997696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log</a:t>
            </a:r>
            <a:endParaRPr lang="en-US" sz="1800" dirty="0"/>
          </a:p>
        </p:txBody>
      </p:sp>
      <p:sp>
        <p:nvSpPr>
          <p:cNvPr id="36" name="text-357"/>
          <p:cNvSpPr txBox="1"/>
          <p:nvPr/>
        </p:nvSpPr>
        <p:spPr>
          <a:xfrm>
            <a:off x="8311896" y="48188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Every role change, ban, warning and removal, with who did it.</a:t>
            </a:r>
            <a:endParaRPr lang="en-US" sz="1400" dirty="0"/>
          </a:p>
        </p:txBody>
      </p:sp>
      <p:sp>
        <p:nvSpPr>
          <p:cNvPr id="37" name="text-358"/>
          <p:cNvSpPr txBox="1"/>
          <p:nvPr/>
        </p:nvSpPr>
        <p:spPr>
          <a:xfrm>
            <a:off x="548640" y="585216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Remove account deletes someone for good: you type their name to confirm. Nobody can warn, ban or remove an exec.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TOOLS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Stats, grades and Elo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359"/>
          <p:cNvSpPr/>
          <p:nvPr/>
        </p:nvSpPr>
        <p:spPr>
          <a:xfrm>
            <a:off x="548640" y="1737360"/>
            <a:ext cx="5486400" cy="4343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graphicFrame>
        <p:nvGraphicFramePr>
          <p:cNvPr id="7" name="elo-chart" descr=""/>
          <p:cNvGraphicFramePr/>
          <p:nvPr/>
        </p:nvGraphicFramePr>
        <p:xfrm>
          <a:off x="731520" y="178308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-360"/>
          <p:cNvSpPr txBox="1"/>
          <p:nvPr/>
        </p:nvSpPr>
        <p:spPr>
          <a:xfrm>
            <a:off x="822960" y="5074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Everyone starts at 0. Repeats count once a day. Daily sign-in +5, plus streak bonuses (up to 1.6× at 30 days).</a:t>
            </a:r>
            <a:endParaRPr lang="en-US" sz="1300" dirty="0"/>
          </a:p>
        </p:txBody>
      </p:sp>
      <p:sp>
        <p:nvSpPr>
          <p:cNvPr id="9" name="tile-361"/>
          <p:cNvSpPr/>
          <p:nvPr/>
        </p:nvSpPr>
        <p:spPr>
          <a:xfrm>
            <a:off x="6400800" y="1783080"/>
            <a:ext cx="640080" cy="64008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0" name="icon-362" descr="Troph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18" y="1923898"/>
            <a:ext cx="358445" cy="358445"/>
          </a:xfrm>
          <a:prstGeom prst="rect">
            <a:avLst/>
          </a:prstGeom>
        </p:spPr>
      </p:pic>
      <p:sp>
        <p:nvSpPr>
          <p:cNvPr id="11" name="text-363"/>
          <p:cNvSpPr txBox="1"/>
          <p:nvPr/>
        </p:nvSpPr>
        <p:spPr>
          <a:xfrm>
            <a:off x="7223760" y="1764792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</a:t>
            </a:r>
            <a:endParaRPr lang="en-US" sz="1800" dirty="0"/>
          </a:p>
        </p:txBody>
      </p:sp>
      <p:sp>
        <p:nvSpPr>
          <p:cNvPr id="12" name="text-364"/>
          <p:cNvSpPr txBox="1"/>
          <p:nvPr/>
        </p:nvSpPr>
        <p:spPr>
          <a:xfrm>
            <a:off x="7223760" y="2148840"/>
            <a:ext cx="4419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Rank by Elo, hours, flashcards, questions or accuracy. Filter by today, this week, this month or all time.</a:t>
            </a:r>
            <a:endParaRPr lang="en-US" sz="1400" dirty="0"/>
          </a:p>
        </p:txBody>
      </p:sp>
      <p:sp>
        <p:nvSpPr>
          <p:cNvPr id="13" name="tile-365"/>
          <p:cNvSpPr/>
          <p:nvPr/>
        </p:nvSpPr>
        <p:spPr>
          <a:xfrm>
            <a:off x="6400800" y="3246120"/>
            <a:ext cx="640080" cy="64008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4" name="icon-366" descr="ChartBa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386938"/>
            <a:ext cx="358445" cy="358445"/>
          </a:xfrm>
          <a:prstGeom prst="rect">
            <a:avLst/>
          </a:prstGeom>
        </p:spPr>
      </p:pic>
      <p:sp>
        <p:nvSpPr>
          <p:cNvPr id="15" name="text-367"/>
          <p:cNvSpPr txBox="1"/>
          <p:nvPr/>
        </p:nvSpPr>
        <p:spPr>
          <a:xfrm>
            <a:off x="7223760" y="3227832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tab</a:t>
            </a:r>
            <a:endParaRPr lang="en-US" sz="1800" dirty="0"/>
          </a:p>
        </p:txBody>
      </p:sp>
      <p:sp>
        <p:nvSpPr>
          <p:cNvPr id="16" name="text-368"/>
          <p:cNvSpPr txBox="1"/>
          <p:nvPr/>
        </p:nvSpPr>
        <p:spPr>
          <a:xfrm>
            <a:off x="7223760" y="3611880"/>
            <a:ext cx="4419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Best score for every member on every test, test averages, and a CSV download.</a:t>
            </a:r>
            <a:endParaRPr lang="en-US" sz="1400" dirty="0"/>
          </a:p>
        </p:txBody>
      </p:sp>
      <p:sp>
        <p:nvSpPr>
          <p:cNvPr id="17" name="tile-369"/>
          <p:cNvSpPr/>
          <p:nvPr/>
        </p:nvSpPr>
        <p:spPr>
          <a:xfrm>
            <a:off x="6400800" y="4709160"/>
            <a:ext cx="640080" cy="64008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8" name="icon-370" descr="Ey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618" y="4849978"/>
            <a:ext cx="358445" cy="358445"/>
          </a:xfrm>
          <a:prstGeom prst="rect">
            <a:avLst/>
          </a:prstGeom>
        </p:spPr>
      </p:pic>
      <p:sp>
        <p:nvSpPr>
          <p:cNvPr id="19" name="text-371"/>
          <p:cNvSpPr txBox="1"/>
          <p:nvPr/>
        </p:nvSpPr>
        <p:spPr>
          <a:xfrm>
            <a:off x="7223760" y="4690872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student</a:t>
            </a:r>
            <a:endParaRPr lang="en-US" sz="1800" dirty="0"/>
          </a:p>
        </p:txBody>
      </p:sp>
      <p:sp>
        <p:nvSpPr>
          <p:cNvPr id="20" name="text-372"/>
          <p:cNvSpPr txBox="1"/>
          <p:nvPr/>
        </p:nvSpPr>
        <p:spPr>
          <a:xfrm>
            <a:off x="7223760" y="5074920"/>
            <a:ext cx="4419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Open a test › Results › tap a name to see every attempt and their answers.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TOOLS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 stuff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373"/>
          <p:cNvSpPr/>
          <p:nvPr/>
        </p:nvSpPr>
        <p:spPr>
          <a:xfrm>
            <a:off x="548640" y="1737360"/>
            <a:ext cx="5440680" cy="393192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ile-374"/>
          <p:cNvSpPr/>
          <p:nvPr/>
        </p:nvSpPr>
        <p:spPr>
          <a:xfrm>
            <a:off x="868680" y="2057400"/>
            <a:ext cx="777240" cy="77724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8" name="icon-375" descr="Sword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3" y="2228393"/>
            <a:ext cx="435254" cy="435254"/>
          </a:xfrm>
          <a:prstGeom prst="rect">
            <a:avLst/>
          </a:prstGeom>
        </p:spPr>
      </p:pic>
      <p:sp>
        <p:nvSpPr>
          <p:cNvPr id="9" name="text-376"/>
          <p:cNvSpPr txBox="1"/>
          <p:nvPr/>
        </p:nvSpPr>
        <p:spPr>
          <a:xfrm>
            <a:off x="1874520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Battles</a:t>
            </a:r>
            <a:endParaRPr lang="en-US" sz="2800" dirty="0"/>
          </a:p>
        </p:txBody>
      </p:sp>
      <p:sp>
        <p:nvSpPr>
          <p:cNvPr id="10" name="text-377"/>
          <p:cNvSpPr txBox="1"/>
          <p:nvPr/>
        </p:nvSpPr>
        <p:spPr>
          <a:xfrm>
            <a:off x="868680" y="310896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Event Overview › “Battle”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1v1, 2v2, 3v3 or Teams (up to 20 a side)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5 to 30 questions. “Get a code”, friends join, host taps Start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20 seconds a round: 100 for right, up to 50 more for speed</a:t>
            </a:r>
            <a:endParaRPr lang="en-US" sz="1700" dirty="0"/>
          </a:p>
        </p:txBody>
      </p:sp>
      <p:sp>
        <p:nvSpPr>
          <p:cNvPr id="11" name="box-378"/>
          <p:cNvSpPr/>
          <p:nvPr/>
        </p:nvSpPr>
        <p:spPr>
          <a:xfrm>
            <a:off x="6217920" y="1737360"/>
            <a:ext cx="5440680" cy="3931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2" name="tile-379"/>
          <p:cNvSpPr/>
          <p:nvPr/>
        </p:nvSpPr>
        <p:spPr>
          <a:xfrm>
            <a:off x="6537960" y="2057400"/>
            <a:ext cx="777240" cy="7772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3" name="icon-380" descr="Troph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953" y="2228393"/>
            <a:ext cx="435254" cy="435254"/>
          </a:xfrm>
          <a:prstGeom prst="rect">
            <a:avLst/>
          </a:prstGeom>
        </p:spPr>
      </p:pic>
      <p:sp>
        <p:nvSpPr>
          <p:cNvPr id="14" name="text-381"/>
          <p:cNvSpPr txBox="1"/>
          <p:nvPr/>
        </p:nvSpPr>
        <p:spPr>
          <a:xfrm>
            <a:off x="7543800" y="2057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BLC mock comps</a:t>
            </a:r>
            <a:endParaRPr lang="en-US" sz="2800" dirty="0"/>
          </a:p>
        </p:txBody>
      </p:sp>
      <p:sp>
        <p:nvSpPr>
          <p:cNvPr id="15" name="soon-382"/>
          <p:cNvSpPr/>
          <p:nvPr/>
        </p:nvSpPr>
        <p:spPr>
          <a:xfrm>
            <a:off x="6537960" y="3063240"/>
            <a:ext cx="1600200" cy="3657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text-383"/>
          <p:cNvSpPr txBox="1"/>
          <p:nvPr/>
        </p:nvSpPr>
        <p:spPr>
          <a:xfrm>
            <a:off x="653796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SWITCHED OFF</a:t>
            </a:r>
            <a:endParaRPr lang="en-US" sz="1100" dirty="0"/>
          </a:p>
        </p:txBody>
      </p:sp>
      <p:sp>
        <p:nvSpPr>
          <p:cNvPr id="17" name="text-384"/>
          <p:cNvSpPr txBox="1"/>
          <p:nvPr/>
        </p:nvSpPr>
        <p:spPr>
          <a:xfrm>
            <a:off x="6537960" y="365760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timed practice competition the whole chapter can enter, no code needed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Execs set when it opens and closes; tests stay hidden until then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After it closes: a results board, then review and practice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golden rules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385"/>
          <p:cNvSpPr/>
          <p:nvPr/>
        </p:nvSpPr>
        <p:spPr>
          <a:xfrm>
            <a:off x="548640" y="1737360"/>
            <a:ext cx="5440680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ile-386"/>
          <p:cNvSpPr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8" name="icon-387" descr="KeyRoun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2162556"/>
            <a:ext cx="384048" cy="384048"/>
          </a:xfrm>
          <a:prstGeom prst="rect">
            <a:avLst/>
          </a:prstGeom>
        </p:spPr>
      </p:pic>
      <p:sp>
        <p:nvSpPr>
          <p:cNvPr id="9" name="text-388"/>
          <p:cNvSpPr txBox="1"/>
          <p:nvPr/>
        </p:nvSpPr>
        <p:spPr>
          <a:xfrm>
            <a:off x="1737360" y="20116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make accounts for people</a:t>
            </a:r>
            <a:endParaRPr lang="en-US" sz="1800" dirty="0"/>
          </a:p>
        </p:txBody>
      </p:sp>
      <p:sp>
        <p:nvSpPr>
          <p:cNvPr id="10" name="text-389"/>
          <p:cNvSpPr txBox="1"/>
          <p:nvPr/>
        </p:nvSpPr>
        <p:spPr>
          <a:xfrm>
            <a:off x="1737360" y="27432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Members sign up themselves. Never ask for or handle anyone's password.</a:t>
            </a:r>
            <a:endParaRPr lang="en-US" sz="1500" dirty="0"/>
          </a:p>
        </p:txBody>
      </p:sp>
      <p:sp>
        <p:nvSpPr>
          <p:cNvPr id="11" name="box-390"/>
          <p:cNvSpPr/>
          <p:nvPr/>
        </p:nvSpPr>
        <p:spPr>
          <a:xfrm>
            <a:off x="6217920" y="1737360"/>
            <a:ext cx="5440680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2" name="tile-391"/>
          <p:cNvSpPr/>
          <p:nvPr/>
        </p:nvSpPr>
        <p:spPr>
          <a:xfrm>
            <a:off x="6492240" y="2011680"/>
            <a:ext cx="685800" cy="68580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3" name="icon-392" descr="Lo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2162556"/>
            <a:ext cx="384048" cy="384048"/>
          </a:xfrm>
          <a:prstGeom prst="rect">
            <a:avLst/>
          </a:prstGeom>
        </p:spPr>
      </p:pic>
      <p:sp>
        <p:nvSpPr>
          <p:cNvPr id="14" name="text-393"/>
          <p:cNvSpPr txBox="1"/>
          <p:nvPr/>
        </p:nvSpPr>
        <p:spPr>
          <a:xfrm>
            <a:off x="7406640" y="20116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chapter code at sign-up time</a:t>
            </a:r>
            <a:endParaRPr lang="en-US" sz="1800" dirty="0"/>
          </a:p>
        </p:txBody>
      </p:sp>
      <p:sp>
        <p:nvSpPr>
          <p:cNvPr id="15" name="text-394"/>
          <p:cNvSpPr txBox="1"/>
          <p:nvPr/>
        </p:nvSpPr>
        <p:spPr>
          <a:xfrm>
            <a:off x="7406640" y="27432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Turn it on in Admin when recruiting so only real members get in. Clear it after.</a:t>
            </a:r>
            <a:endParaRPr lang="en-US" sz="1500" dirty="0"/>
          </a:p>
        </p:txBody>
      </p:sp>
      <p:sp>
        <p:nvSpPr>
          <p:cNvPr id="16" name="box-395"/>
          <p:cNvSpPr/>
          <p:nvPr/>
        </p:nvSpPr>
        <p:spPr>
          <a:xfrm>
            <a:off x="548640" y="3840480"/>
            <a:ext cx="5440680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7" name="tile-396"/>
          <p:cNvSpPr/>
          <p:nvPr/>
        </p:nvSpPr>
        <p:spPr>
          <a:xfrm>
            <a:off x="822960" y="4114800"/>
            <a:ext cx="685800" cy="68580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8" name="icon-397" descr="EyeOff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" y="4265676"/>
            <a:ext cx="384048" cy="384048"/>
          </a:xfrm>
          <a:prstGeom prst="rect">
            <a:avLst/>
          </a:prstGeom>
        </p:spPr>
      </p:pic>
      <p:sp>
        <p:nvSpPr>
          <p:cNvPr id="19" name="text-398"/>
          <p:cNvSpPr txBox="1"/>
          <p:nvPr/>
        </p:nvSpPr>
        <p:spPr>
          <a:xfrm>
            <a:off x="1737360" y="41148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mock exams honest</a:t>
            </a:r>
            <a:endParaRPr lang="en-US" sz="1800" dirty="0"/>
          </a:p>
        </p:txBody>
      </p:sp>
      <p:sp>
        <p:nvSpPr>
          <p:cNvPr id="20" name="text-399"/>
          <p:cNvSpPr txBox="1"/>
          <p:nvPr/>
        </p:nvSpPr>
        <p:spPr>
          <a:xfrm>
            <a:off x="1737360" y="48463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Turn off “Show correct answers” and set 1 attempt for anything that counts.</a:t>
            </a:r>
            <a:endParaRPr lang="en-US" sz="1500" dirty="0"/>
          </a:p>
        </p:txBody>
      </p:sp>
      <p:sp>
        <p:nvSpPr>
          <p:cNvPr id="21" name="box-400"/>
          <p:cNvSpPr/>
          <p:nvPr/>
        </p:nvSpPr>
        <p:spPr>
          <a:xfrm>
            <a:off x="6217920" y="3840480"/>
            <a:ext cx="5440680" cy="187452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2" name="tile-401"/>
          <p:cNvSpPr/>
          <p:nvPr/>
        </p:nvSpPr>
        <p:spPr>
          <a:xfrm>
            <a:off x="6492240" y="4114800"/>
            <a:ext cx="685800" cy="6858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23" name="icon-402" descr="TriangleAler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265676"/>
            <a:ext cx="384048" cy="384048"/>
          </a:xfrm>
          <a:prstGeom prst="rect">
            <a:avLst/>
          </a:prstGeom>
        </p:spPr>
      </p:pic>
      <p:sp>
        <p:nvSpPr>
          <p:cNvPr id="24" name="text-403"/>
          <p:cNvSpPr txBox="1"/>
          <p:nvPr/>
        </p:nvSpPr>
        <p:spPr>
          <a:xfrm>
            <a:off x="7406640" y="41148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Deleting is for good</a:t>
            </a:r>
            <a:endParaRPr lang="en-US" sz="1800" dirty="0"/>
          </a:p>
        </p:txBody>
      </p:sp>
      <p:sp>
        <p:nvSpPr>
          <p:cNvPr id="25" name="text-404"/>
          <p:cNvSpPr txBox="1"/>
          <p:nvPr/>
        </p:nvSpPr>
        <p:spPr>
          <a:xfrm>
            <a:off x="7406640" y="48463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Deleting a test wipes everyone's attempts. Deleting an event wipes its files. No undo.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822960"/>
            <a:ext cx="4846320" cy="4559085"/>
          </a:xfrm>
          <a:prstGeom prst="rect">
            <a:avLst/>
          </a:prstGeom>
        </p:spPr>
      </p:pic>
      <p:sp>
        <p:nvSpPr>
          <p:cNvPr id="3" name="text-405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</a:t>
            </a:r>
            <a:endParaRPr lang="en-US" sz="1400" dirty="0"/>
          </a:p>
        </p:txBody>
      </p:sp>
      <p:sp>
        <p:nvSpPr>
          <p:cNvPr id="4" name="text-406"/>
          <p:cNvSpPr txBox="1"/>
          <p:nvPr/>
        </p:nvSpPr>
        <p:spPr>
          <a:xfrm>
            <a:off x="640080" y="1874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click around</a:t>
            </a:r>
            <a:endParaRPr lang="en-US" sz="4800" dirty="0"/>
          </a:p>
        </p:txBody>
      </p:sp>
      <p:sp>
        <p:nvSpPr>
          <p:cNvPr id="5" name="text-407"/>
          <p:cNvSpPr txBox="1"/>
          <p:nvPr/>
        </p:nvSpPr>
        <p:spPr>
          <a:xfrm>
            <a:off x="640080" y="2926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Make an event, paste in a test, and post it. Stuck on something? Just ask.</a:t>
            </a:r>
            <a:endParaRPr lang="en-US" sz="1800" dirty="0"/>
          </a:p>
        </p:txBody>
      </p:sp>
      <p:sp>
        <p:nvSpPr>
          <p:cNvPr id="6" name="url-408"/>
          <p:cNvSpPr/>
          <p:nvPr/>
        </p:nvSpPr>
        <p:spPr>
          <a:xfrm>
            <a:off x="640080" y="4069080"/>
            <a:ext cx="3291840" cy="640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-409">
            <a:hlinkClick r:id="rId2" tooltip=""/>
          </p:cNvPr>
          <p:cNvSpPr txBox="1"/>
          <p:nvPr/>
        </p:nvSpPr>
        <p:spPr>
          <a:xfrm>
            <a:off x="640080" y="4069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hosabayview.com</a:t>
            </a:r>
            <a:endParaRPr lang="en-US" sz="2000" dirty="0"/>
          </a:p>
        </p:txBody>
      </p:sp>
      <p:sp>
        <p:nvSpPr>
          <p:cNvPr id="8" name="!!ecg"/>
          <p:cNvSpPr/>
          <p:nvPr/>
        </p:nvSpPr>
        <p:spPr>
          <a:xfrm>
            <a:off x="0" y="5715000"/>
            <a:ext cx="12191695" cy="822960"/>
          </a:xfrm>
          <a:custGeom>
            <a:avLst/>
            <a:gdLst/>
            <a:ahLst/>
            <a:cxnLst/>
            <a:rect l="l" t="t" r="r" b="b"/>
            <a:pathLst>
              <a:path w="12191695" h="822960">
                <a:moveTo>
                  <a:pt x="0" y="510235"/>
                </a:moveTo>
                <a:lnTo>
                  <a:pt x="3657509" y="510235"/>
                </a:lnTo>
                <a:lnTo>
                  <a:pt x="4145176" y="427939"/>
                </a:lnTo>
                <a:lnTo>
                  <a:pt x="4632844" y="510235"/>
                </a:lnTo>
                <a:lnTo>
                  <a:pt x="5364346" y="510235"/>
                </a:lnTo>
                <a:lnTo>
                  <a:pt x="5730097" y="608990"/>
                </a:lnTo>
                <a:lnTo>
                  <a:pt x="6217765" y="16459"/>
                </a:lnTo>
                <a:lnTo>
                  <a:pt x="6766391" y="822960"/>
                </a:lnTo>
                <a:lnTo>
                  <a:pt x="7193100" y="510235"/>
                </a:lnTo>
                <a:lnTo>
                  <a:pt x="8046519" y="510235"/>
                </a:lnTo>
                <a:lnTo>
                  <a:pt x="8656104" y="362102"/>
                </a:lnTo>
                <a:lnTo>
                  <a:pt x="9387605" y="510235"/>
                </a:lnTo>
                <a:lnTo>
                  <a:pt x="12191695" y="510235"/>
                </a:lnTo>
              </a:path>
            </a:pathLst>
          </a:custGeom>
          <a:ln w="38100">
            <a:solidFill>
              <a:schemeClr val="accent2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OSA Bayview">
  <a:themeElements>
    <a:clrScheme name="HOSA Bayview">
      <a:dk1>
        <a:srgbClr val="0F2440"/>
      </a:dk1>
      <a:lt1>
        <a:srgbClr val="FFFFFF"/>
      </a:lt1>
      <a:dk2>
        <a:srgbClr val="1E3D62"/>
      </a:dk2>
      <a:lt2>
        <a:srgbClr val="E8F2FA"/>
      </a:lt2>
      <a:accent1>
        <a:srgbClr val="7A1F2B"/>
      </a:accent1>
      <a:accent2>
        <a:srgbClr val="28507D"/>
      </a:accent2>
      <a:accent3>
        <a:srgbClr val="5B7896"/>
      </a:accent3>
      <a:accent4>
        <a:srgbClr val="D6E6F3"/>
      </a:accent4>
      <a:accent5>
        <a:srgbClr val="1D5E3A"/>
      </a:accent5>
      <a:accent6>
        <a:srgbClr val="33506F"/>
      </a:accent6>
      <a:hlink>
        <a:srgbClr val="7A1F2B"/>
      </a:hlink>
      <a:folHlink>
        <a:srgbClr val="33506F"/>
      </a:folHlink>
    </a:clrScheme>
    <a:fontScheme name="HOSA Bayvie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HOSA Bayview: admin guide</dc:title>
  <dc:subject>PptxGenJS Presentation</dc:subject>
  <dc:creator>HOSA Bayview</dc:creator>
  <cp:lastModifiedBy>HOSA Bayview</cp:lastModifiedBy>
  <cp:revision>1</cp:revision>
  <dcterms:created xsi:type="dcterms:W3CDTF">2026-10-12T02:25:20Z</dcterms:created>
  <dcterms:modified xsi:type="dcterms:W3CDTF">2026-10-12T02:25:20Z</dcterms:modified>
</cp:coreProperties>
</file>