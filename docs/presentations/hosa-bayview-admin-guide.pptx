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f444b670-d737-4171-a09d-a0b01344f67f}">
          <p14:sldIdLst>
            <p14:sldId id="256"/>
            <p14:sldId id="257"/>
            <p14:sldId id="258"/>
          </p14:sldIdLst>
        </p14:section>
        <p14:section name="Event rooms" id="{500e89fa-ab09-fc5d-c6c8-93c2186863e7}">
          <p14:sldIdLst>
            <p14:sldId id="259"/>
          </p14:sldIdLst>
        </p14:section>
        <p14:section name="Tests and flashcards" id="{65c39da9-3381-6b36-ed55-29609a4d49d0}">
          <p14:sldIdLst>
            <p14:sldId id="260"/>
            <p14:sldId id="261"/>
            <p14:sldId id="262"/>
          </p14:sldIdLst>
        </p14:section>
        <p14:section name="Chapter tools" id="{44960b6e-9730-cc9a-31ca-ad3b604ab5f5}">
          <p14:sldIdLst>
            <p14:sldId id="263"/>
            <p14:sldId id="264"/>
            <p14:sldId id="265"/>
          </p14:sldIdLst>
        </p14:section>
        <p14:section name="Wrap up" id="{50a549e6-8fb5-f6a1-0879-5b2b4933efae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version: the slides cover the key features, then I'll show them live on hosabayview.com.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map of everything. Each of these gets a slide or a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Everyone signs up as a Trainee.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make a room, show the join code, click through the tabs.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make a test, paste a few questions, show the preview fixing a missing answer, post it, take it as a 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easiest way to get tests on the site: drop the file in the folder with a clear name and I'll do the bulk upload.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start a battle with the room code on the projector.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post an announcement, add a calendar event, mark attendance for one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Demo: open Manage on a member to show the panel.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four things most worth remembering.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the browser for the live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554480"/>
            <a:ext cx="45720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3154680"/>
            <a:ext cx="676656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62179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ligh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548640" y="64190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hosabayview.com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hosabayview.com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hosabayview.com" TargetMode="Externa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4937760" cy="4645106"/>
          </a:xfrm>
          <a:prstGeom prst="rect">
            <a:avLst/>
          </a:prstGeom>
        </p:spPr>
      </p:pic>
      <p:sp>
        <p:nvSpPr>
          <p:cNvPr id="3" name="text-1"/>
          <p:cNvSpPr txBox="1"/>
          <p:nvPr/>
        </p:nvSpPr>
        <p:spPr>
          <a:xfrm>
            <a:off x="6309360" y="1417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TRAINING</a:t>
            </a:r>
            <a:endParaRPr lang="en-US" sz="1400" dirty="0"/>
          </a:p>
        </p:txBody>
      </p:sp>
      <p:sp>
        <p:nvSpPr>
          <p:cNvPr id="4" name="text-2"/>
          <p:cNvSpPr txBox="1"/>
          <p:nvPr/>
        </p:nvSpPr>
        <p:spPr>
          <a:xfrm>
            <a:off x="6309360" y="1828800"/>
            <a:ext cx="5394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run HOSA Bayview online</a:t>
            </a:r>
            <a:endParaRPr lang="en-US" sz="4400" dirty="0"/>
          </a:p>
        </p:txBody>
      </p:sp>
      <p:sp>
        <p:nvSpPr>
          <p:cNvPr id="5" name="text-3"/>
          <p:cNvSpPr txBox="1"/>
          <p:nvPr/>
        </p:nvSpPr>
        <p:spPr>
          <a:xfrm>
            <a:off x="6309360" y="374904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The key features. The rest you'll see in the live demo.</a:t>
            </a:r>
            <a:endParaRPr lang="en-US" sz="1800" dirty="0"/>
          </a:p>
        </p:txBody>
      </p:sp>
      <p:sp>
        <p:nvSpPr>
          <p:cNvPr id="6" name="url-4"/>
          <p:cNvSpPr/>
          <p:nvPr/>
        </p:nvSpPr>
        <p:spPr>
          <a:xfrm>
            <a:off x="6309360" y="4617720"/>
            <a:ext cx="3017520" cy="54864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-5">
            <a:hlinkClick r:id="rId2" tooltip=""/>
          </p:cNvPr>
          <p:cNvSpPr txBox="1"/>
          <p:nvPr/>
        </p:nvSpPr>
        <p:spPr>
          <a:xfrm>
            <a:off x="6309360" y="46177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u="sng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hosabayview.com</a:t>
            </a:r>
            <a:endParaRPr lang="en-US" sz="1800" dirty="0"/>
          </a:p>
        </p:txBody>
      </p:sp>
      <p:sp>
        <p:nvSpPr>
          <p:cNvPr id="8" name="!!ecg"/>
          <p:cNvSpPr/>
          <p:nvPr/>
        </p:nvSpPr>
        <p:spPr>
          <a:xfrm>
            <a:off x="0" y="5715000"/>
            <a:ext cx="12191695" cy="822960"/>
          </a:xfrm>
          <a:custGeom>
            <a:avLst/>
            <a:gdLst/>
            <a:ahLst/>
            <a:cxnLst/>
            <a:rect l="l" t="t" r="r" b="b"/>
            <a:pathLst>
              <a:path w="12191695" h="822960">
                <a:moveTo>
                  <a:pt x="0" y="510235"/>
                </a:moveTo>
                <a:lnTo>
                  <a:pt x="3657509" y="510235"/>
                </a:lnTo>
                <a:lnTo>
                  <a:pt x="4145176" y="427939"/>
                </a:lnTo>
                <a:lnTo>
                  <a:pt x="4632844" y="510235"/>
                </a:lnTo>
                <a:lnTo>
                  <a:pt x="5364346" y="510235"/>
                </a:lnTo>
                <a:lnTo>
                  <a:pt x="5730097" y="608990"/>
                </a:lnTo>
                <a:lnTo>
                  <a:pt x="6217765" y="16459"/>
                </a:lnTo>
                <a:lnTo>
                  <a:pt x="6766391" y="822960"/>
                </a:lnTo>
                <a:lnTo>
                  <a:pt x="7193100" y="510235"/>
                </a:lnTo>
                <a:lnTo>
                  <a:pt x="8046519" y="510235"/>
                </a:lnTo>
                <a:lnTo>
                  <a:pt x="8656104" y="362102"/>
                </a:lnTo>
                <a:lnTo>
                  <a:pt x="9387605" y="510235"/>
                </a:lnTo>
                <a:lnTo>
                  <a:pt x="12191695" y="510235"/>
                </a:lnTo>
              </a:path>
            </a:pathLst>
          </a:custGeom>
          <a:ln w="38100">
            <a:solidFill>
              <a:schemeClr val="accent2"/>
            </a:solidFill>
            <a:prstDash val="solid"/>
          </a:ln>
        </p:spPr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site does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box-6"/>
          <p:cNvSpPr/>
          <p:nvPr/>
        </p:nvSpPr>
        <p:spPr>
          <a:xfrm>
            <a:off x="548640" y="1737360"/>
            <a:ext cx="3564026" cy="18745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7" name="tile-7"/>
          <p:cNvSpPr/>
          <p:nvPr/>
        </p:nvSpPr>
        <p:spPr>
          <a:xfrm>
            <a:off x="804672" y="1993392"/>
            <a:ext cx="566928" cy="566928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8" name="icon-8" descr="HeartPuls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96" y="2118116"/>
            <a:ext cx="317480" cy="317480"/>
          </a:xfrm>
          <a:prstGeom prst="rect">
            <a:avLst/>
          </a:prstGeom>
        </p:spPr>
      </p:pic>
      <p:sp>
        <p:nvSpPr>
          <p:cNvPr id="9" name="text-9"/>
          <p:cNvSpPr txBox="1"/>
          <p:nvPr/>
        </p:nvSpPr>
        <p:spPr>
          <a:xfrm>
            <a:off x="1536192" y="1993392"/>
            <a:ext cx="23753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rooms</a:t>
            </a:r>
            <a:endParaRPr lang="en-US" sz="1900" dirty="0"/>
          </a:p>
        </p:txBody>
      </p:sp>
      <p:sp>
        <p:nvSpPr>
          <p:cNvPr id="10" name="text-10"/>
          <p:cNvSpPr txBox="1"/>
          <p:nvPr/>
        </p:nvSpPr>
        <p:spPr>
          <a:xfrm>
            <a:off x="804672" y="2724912"/>
            <a:ext cx="31068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One room per HOSA event. Members join with a code.</a:t>
            </a:r>
            <a:endParaRPr lang="en-US" sz="1500" dirty="0"/>
          </a:p>
        </p:txBody>
      </p:sp>
      <p:sp>
        <p:nvSpPr>
          <p:cNvPr id="11" name="box-11"/>
          <p:cNvSpPr/>
          <p:nvPr/>
        </p:nvSpPr>
        <p:spPr>
          <a:xfrm>
            <a:off x="4313834" y="1737360"/>
            <a:ext cx="3564026" cy="18745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2" name="tile-12"/>
          <p:cNvSpPr/>
          <p:nvPr/>
        </p:nvSpPr>
        <p:spPr>
          <a:xfrm>
            <a:off x="4569866" y="1993392"/>
            <a:ext cx="566928" cy="566928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3" name="icon-13" descr="ClipboardLis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591" y="2118116"/>
            <a:ext cx="317480" cy="317480"/>
          </a:xfrm>
          <a:prstGeom prst="rect">
            <a:avLst/>
          </a:prstGeom>
        </p:spPr>
      </p:pic>
      <p:sp>
        <p:nvSpPr>
          <p:cNvPr id="14" name="text-14"/>
          <p:cNvSpPr txBox="1"/>
          <p:nvPr/>
        </p:nvSpPr>
        <p:spPr>
          <a:xfrm>
            <a:off x="5301386" y="1993392"/>
            <a:ext cx="23753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900" dirty="0"/>
          </a:p>
        </p:txBody>
      </p:sp>
      <p:sp>
        <p:nvSpPr>
          <p:cNvPr id="15" name="text-15"/>
          <p:cNvSpPr txBox="1"/>
          <p:nvPr/>
        </p:nvSpPr>
        <p:spPr>
          <a:xfrm>
            <a:off x="4569866" y="2724912"/>
            <a:ext cx="31068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Multiple choice, auto-graded, timed or practice.</a:t>
            </a:r>
            <a:endParaRPr lang="en-US" sz="1500" dirty="0"/>
          </a:p>
        </p:txBody>
      </p:sp>
      <p:sp>
        <p:nvSpPr>
          <p:cNvPr id="16" name="box-16"/>
          <p:cNvSpPr/>
          <p:nvPr/>
        </p:nvSpPr>
        <p:spPr>
          <a:xfrm>
            <a:off x="8079029" y="1737360"/>
            <a:ext cx="3564026" cy="18745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7" name="tile-17"/>
          <p:cNvSpPr/>
          <p:nvPr/>
        </p:nvSpPr>
        <p:spPr>
          <a:xfrm>
            <a:off x="8335061" y="1993392"/>
            <a:ext cx="566928" cy="566928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8" name="icon-18" descr="Layer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9785" y="2118116"/>
            <a:ext cx="317480" cy="317480"/>
          </a:xfrm>
          <a:prstGeom prst="rect">
            <a:avLst/>
          </a:prstGeom>
        </p:spPr>
      </p:pic>
      <p:sp>
        <p:nvSpPr>
          <p:cNvPr id="19" name="text-19"/>
          <p:cNvSpPr txBox="1"/>
          <p:nvPr/>
        </p:nvSpPr>
        <p:spPr>
          <a:xfrm>
            <a:off x="9066581" y="1993392"/>
            <a:ext cx="23753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Flashcards</a:t>
            </a:r>
            <a:endParaRPr lang="en-US" sz="1900" dirty="0"/>
          </a:p>
        </p:txBody>
      </p:sp>
      <p:sp>
        <p:nvSpPr>
          <p:cNvPr id="20" name="text-20"/>
          <p:cNvSpPr txBox="1"/>
          <p:nvPr/>
        </p:nvSpPr>
        <p:spPr>
          <a:xfrm>
            <a:off x="8335061" y="2724912"/>
            <a:ext cx="31068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Shared decks, study mode and a matching game.</a:t>
            </a:r>
            <a:endParaRPr lang="en-US" sz="1500" dirty="0"/>
          </a:p>
        </p:txBody>
      </p:sp>
      <p:sp>
        <p:nvSpPr>
          <p:cNvPr id="21" name="box-21"/>
          <p:cNvSpPr/>
          <p:nvPr/>
        </p:nvSpPr>
        <p:spPr>
          <a:xfrm>
            <a:off x="548640" y="3813048"/>
            <a:ext cx="3564026" cy="18745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2" name="tile-22"/>
          <p:cNvSpPr/>
          <p:nvPr/>
        </p:nvSpPr>
        <p:spPr>
          <a:xfrm>
            <a:off x="804672" y="4069080"/>
            <a:ext cx="566928" cy="566928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3" name="icon-23" descr="Megaphone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396" y="4193804"/>
            <a:ext cx="317480" cy="317480"/>
          </a:xfrm>
          <a:prstGeom prst="rect">
            <a:avLst/>
          </a:prstGeom>
        </p:spPr>
      </p:pic>
      <p:sp>
        <p:nvSpPr>
          <p:cNvPr id="24" name="text-24"/>
          <p:cNvSpPr txBox="1"/>
          <p:nvPr/>
        </p:nvSpPr>
        <p:spPr>
          <a:xfrm>
            <a:off x="1536192" y="4069080"/>
            <a:ext cx="23753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Announcements + calendar</a:t>
            </a:r>
            <a:endParaRPr lang="en-US" sz="1900" dirty="0"/>
          </a:p>
        </p:txBody>
      </p:sp>
      <p:sp>
        <p:nvSpPr>
          <p:cNvPr id="25" name="text-25"/>
          <p:cNvSpPr txBox="1"/>
          <p:nvPr/>
        </p:nvSpPr>
        <p:spPr>
          <a:xfrm>
            <a:off x="804672" y="4800600"/>
            <a:ext cx="31068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Posts and events, with notifications to phones.</a:t>
            </a:r>
            <a:endParaRPr lang="en-US" sz="1500" dirty="0"/>
          </a:p>
        </p:txBody>
      </p:sp>
      <p:sp>
        <p:nvSpPr>
          <p:cNvPr id="26" name="box-26"/>
          <p:cNvSpPr/>
          <p:nvPr/>
        </p:nvSpPr>
        <p:spPr>
          <a:xfrm>
            <a:off x="4313834" y="3813048"/>
            <a:ext cx="3564026" cy="18745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7" name="tile-27"/>
          <p:cNvSpPr/>
          <p:nvPr/>
        </p:nvSpPr>
        <p:spPr>
          <a:xfrm>
            <a:off x="4569866" y="4069080"/>
            <a:ext cx="566928" cy="566928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8" name="icon-28" descr="ClipboardCheck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4591" y="4193804"/>
            <a:ext cx="317480" cy="317480"/>
          </a:xfrm>
          <a:prstGeom prst="rect">
            <a:avLst/>
          </a:prstGeom>
        </p:spPr>
      </p:pic>
      <p:sp>
        <p:nvSpPr>
          <p:cNvPr id="29" name="text-29"/>
          <p:cNvSpPr txBox="1"/>
          <p:nvPr/>
        </p:nvSpPr>
        <p:spPr>
          <a:xfrm>
            <a:off x="5301386" y="4069080"/>
            <a:ext cx="23753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900" dirty="0"/>
          </a:p>
        </p:txBody>
      </p:sp>
      <p:sp>
        <p:nvSpPr>
          <p:cNvPr id="30" name="text-30"/>
          <p:cNvSpPr txBox="1"/>
          <p:nvPr/>
        </p:nvSpPr>
        <p:spPr>
          <a:xfrm>
            <a:off x="4569866" y="4800600"/>
            <a:ext cx="31068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The weekly sign-in sheet, live, for every event.</a:t>
            </a:r>
            <a:endParaRPr lang="en-US" sz="1500" dirty="0"/>
          </a:p>
        </p:txBody>
      </p:sp>
      <p:sp>
        <p:nvSpPr>
          <p:cNvPr id="31" name="box-31"/>
          <p:cNvSpPr/>
          <p:nvPr/>
        </p:nvSpPr>
        <p:spPr>
          <a:xfrm>
            <a:off x="8079029" y="3813048"/>
            <a:ext cx="3564026" cy="18745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32" name="tile-32"/>
          <p:cNvSpPr/>
          <p:nvPr/>
        </p:nvSpPr>
        <p:spPr>
          <a:xfrm>
            <a:off x="8335061" y="4069080"/>
            <a:ext cx="566928" cy="566928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33" name="icon-33" descr="Trophy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59785" y="4193804"/>
            <a:ext cx="317480" cy="317480"/>
          </a:xfrm>
          <a:prstGeom prst="rect">
            <a:avLst/>
          </a:prstGeom>
        </p:spPr>
      </p:pic>
      <p:sp>
        <p:nvSpPr>
          <p:cNvPr id="34" name="text-34"/>
          <p:cNvSpPr txBox="1"/>
          <p:nvPr/>
        </p:nvSpPr>
        <p:spPr>
          <a:xfrm>
            <a:off x="9066581" y="4069080"/>
            <a:ext cx="23753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 + battles</a:t>
            </a:r>
            <a:endParaRPr lang="en-US" sz="1900" dirty="0"/>
          </a:p>
        </p:txBody>
      </p:sp>
      <p:sp>
        <p:nvSpPr>
          <p:cNvPr id="35" name="text-35"/>
          <p:cNvSpPr txBox="1"/>
          <p:nvPr/>
        </p:nvSpPr>
        <p:spPr>
          <a:xfrm>
            <a:off x="8335061" y="4800600"/>
            <a:ext cx="310682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Elo, streaks and live quiz battles keep people studying.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DO WHAT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roles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box-36"/>
          <p:cNvSpPr/>
          <p:nvPr/>
        </p:nvSpPr>
        <p:spPr>
          <a:xfrm>
            <a:off x="548640" y="1783080"/>
            <a:ext cx="3564026" cy="310896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7" name="tile-37"/>
          <p:cNvSpPr/>
          <p:nvPr/>
        </p:nvSpPr>
        <p:spPr>
          <a:xfrm>
            <a:off x="822960" y="2057400"/>
            <a:ext cx="777240" cy="77724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8" name="icon-38" descr="ShieldChe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953" y="2228393"/>
            <a:ext cx="435254" cy="435254"/>
          </a:xfrm>
          <a:prstGeom prst="rect">
            <a:avLst/>
          </a:prstGeom>
        </p:spPr>
      </p:pic>
      <p:sp>
        <p:nvSpPr>
          <p:cNvPr id="9" name="text-39"/>
          <p:cNvSpPr txBox="1"/>
          <p:nvPr/>
        </p:nvSpPr>
        <p:spPr>
          <a:xfrm>
            <a:off x="822960" y="3063240"/>
            <a:ext cx="3015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</a:t>
            </a:r>
            <a:endParaRPr lang="en-US" sz="2400" dirty="0"/>
          </a:p>
        </p:txBody>
      </p:sp>
      <p:sp>
        <p:nvSpPr>
          <p:cNvPr id="10" name="text-40"/>
          <p:cNvSpPr txBox="1"/>
          <p:nvPr/>
        </p:nvSpPr>
        <p:spPr>
          <a:xfrm>
            <a:off x="822960" y="3611880"/>
            <a:ext cx="301538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Sees and manages everything: members, roles, every event, attendance.</a:t>
            </a:r>
            <a:endParaRPr lang="en-US" sz="1600" dirty="0"/>
          </a:p>
        </p:txBody>
      </p:sp>
      <p:sp>
        <p:nvSpPr>
          <p:cNvPr id="11" name="box-41"/>
          <p:cNvSpPr/>
          <p:nvPr/>
        </p:nvSpPr>
        <p:spPr>
          <a:xfrm>
            <a:off x="4313834" y="1783080"/>
            <a:ext cx="3564026" cy="310896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2" name="tile-42"/>
          <p:cNvSpPr/>
          <p:nvPr/>
        </p:nvSpPr>
        <p:spPr>
          <a:xfrm>
            <a:off x="4588154" y="2057400"/>
            <a:ext cx="777240" cy="777240"/>
          </a:xfrm>
          <a:prstGeom prst="rect">
            <a:avLst/>
          </a:prstGeom>
          <a:solidFill>
            <a:schemeClr val="accent2"/>
          </a:solidFill>
          <a:ln/>
        </p:spPr>
      </p:sp>
      <p:pic>
        <p:nvPicPr>
          <p:cNvPr id="13" name="icon-43" descr="GraduationCap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9147" y="2228393"/>
            <a:ext cx="435254" cy="435254"/>
          </a:xfrm>
          <a:prstGeom prst="rect">
            <a:avLst/>
          </a:prstGeom>
        </p:spPr>
      </p:pic>
      <p:sp>
        <p:nvSpPr>
          <p:cNvPr id="14" name="text-44"/>
          <p:cNvSpPr txBox="1"/>
          <p:nvPr/>
        </p:nvSpPr>
        <p:spPr>
          <a:xfrm>
            <a:off x="4588154" y="3063240"/>
            <a:ext cx="3015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Trainer</a:t>
            </a:r>
            <a:endParaRPr lang="en-US" sz="2400" dirty="0"/>
          </a:p>
        </p:txBody>
      </p:sp>
      <p:sp>
        <p:nvSpPr>
          <p:cNvPr id="15" name="text-45"/>
          <p:cNvSpPr txBox="1"/>
          <p:nvPr/>
        </p:nvSpPr>
        <p:spPr>
          <a:xfrm>
            <a:off x="4588154" y="3611880"/>
            <a:ext cx="301538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Runs their own event rooms: tests, cards, files and grades.</a:t>
            </a:r>
            <a:endParaRPr lang="en-US" sz="1600" dirty="0"/>
          </a:p>
        </p:txBody>
      </p:sp>
      <p:sp>
        <p:nvSpPr>
          <p:cNvPr id="16" name="box-46"/>
          <p:cNvSpPr/>
          <p:nvPr/>
        </p:nvSpPr>
        <p:spPr>
          <a:xfrm>
            <a:off x="8079029" y="1783080"/>
            <a:ext cx="3564026" cy="310896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7" name="tile-47"/>
          <p:cNvSpPr/>
          <p:nvPr/>
        </p:nvSpPr>
        <p:spPr>
          <a:xfrm>
            <a:off x="8353349" y="2057400"/>
            <a:ext cx="777240" cy="777240"/>
          </a:xfrm>
          <a:prstGeom prst="rect">
            <a:avLst/>
          </a:prstGeom>
          <a:solidFill>
            <a:schemeClr val="accent3"/>
          </a:solidFill>
          <a:ln/>
        </p:spPr>
      </p:sp>
      <p:pic>
        <p:nvPicPr>
          <p:cNvPr id="18" name="icon-48" descr="User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342" y="2228393"/>
            <a:ext cx="435254" cy="435254"/>
          </a:xfrm>
          <a:prstGeom prst="rect">
            <a:avLst/>
          </a:prstGeom>
        </p:spPr>
      </p:pic>
      <p:sp>
        <p:nvSpPr>
          <p:cNvPr id="19" name="text-49"/>
          <p:cNvSpPr txBox="1"/>
          <p:nvPr/>
        </p:nvSpPr>
        <p:spPr>
          <a:xfrm>
            <a:off x="8353349" y="3063240"/>
            <a:ext cx="30153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Trainee</a:t>
            </a:r>
            <a:endParaRPr lang="en-US" sz="2400" dirty="0"/>
          </a:p>
        </p:txBody>
      </p:sp>
      <p:sp>
        <p:nvSpPr>
          <p:cNvPr id="20" name="text-50"/>
          <p:cNvSpPr txBox="1"/>
          <p:nvPr/>
        </p:nvSpPr>
        <p:spPr>
          <a:xfrm>
            <a:off x="8353349" y="3611880"/>
            <a:ext cx="301538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Every new account. Joins events, studies, takes tests.</a:t>
            </a:r>
            <a:endParaRPr lang="en-US" sz="1600" dirty="0"/>
          </a:p>
        </p:txBody>
      </p:sp>
      <p:sp>
        <p:nvSpPr>
          <p:cNvPr id="21" name="box-51"/>
          <p:cNvSpPr/>
          <p:nvPr/>
        </p:nvSpPr>
        <p:spPr>
          <a:xfrm>
            <a:off x="548640" y="5120640"/>
            <a:ext cx="11094415" cy="77724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22" name="text-52"/>
          <p:cNvSpPr txBox="1"/>
          <p:nvPr/>
        </p:nvSpPr>
        <p:spPr>
          <a:xfrm>
            <a:off x="822960" y="5120640"/>
            <a:ext cx="105457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Execs switch people between Trainee and Trainer on the Admin page. Only the chapter leads can make someone an Executive.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 ROOMS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room per event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demo-53"/>
          <p:cNvSpPr/>
          <p:nvPr/>
        </p:nvSpPr>
        <p:spPr>
          <a:xfrm>
            <a:off x="8899855" y="502920"/>
            <a:ext cx="1600200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-54"/>
          <p:cNvSpPr txBox="1"/>
          <p:nvPr/>
        </p:nvSpPr>
        <p:spPr>
          <a:xfrm>
            <a:off x="8899855" y="5029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8" name="num-55"/>
          <p:cNvSpPr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xt-56"/>
          <p:cNvSpPr txBox="1"/>
          <p:nvPr/>
        </p:nvSpPr>
        <p:spPr>
          <a:xfrm>
            <a:off x="548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-57"/>
          <p:cNvSpPr txBox="1"/>
          <p:nvPr/>
        </p:nvSpPr>
        <p:spPr>
          <a:xfrm>
            <a:off x="1188720" y="181051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“New event” › fill in the form › “Make event”</a:t>
            </a:r>
            <a:endParaRPr lang="en-US" sz="1600" dirty="0"/>
          </a:p>
        </p:txBody>
      </p:sp>
      <p:sp>
        <p:nvSpPr>
          <p:cNvPr id="11" name="text-58"/>
          <p:cNvSpPr txBox="1"/>
          <p:nvPr/>
        </p:nvSpPr>
        <p:spPr>
          <a:xfrm>
            <a:off x="1188720" y="2130552"/>
            <a:ext cx="5669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Name, HOSA event, type (MC, Practical or Showcase).</a:t>
            </a:r>
            <a:endParaRPr lang="en-US" sz="1400" dirty="0"/>
          </a:p>
        </p:txBody>
      </p:sp>
      <p:sp>
        <p:nvSpPr>
          <p:cNvPr id="12" name="num-59"/>
          <p:cNvSpPr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3" name="text-60"/>
          <p:cNvSpPr txBox="1"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-61"/>
          <p:cNvSpPr txBox="1"/>
          <p:nvPr/>
        </p:nvSpPr>
        <p:spPr>
          <a:xfrm>
            <a:off x="1188720" y="295351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the join code</a:t>
            </a:r>
            <a:endParaRPr lang="en-US" sz="1600" dirty="0"/>
          </a:p>
        </p:txBody>
      </p:sp>
      <p:sp>
        <p:nvSpPr>
          <p:cNvPr id="15" name="text-62"/>
          <p:cNvSpPr txBox="1"/>
          <p:nvPr/>
        </p:nvSpPr>
        <p:spPr>
          <a:xfrm>
            <a:off x="1188720" y="3273552"/>
            <a:ext cx="5669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It's in the room's header. Copy it or put it on the projector.</a:t>
            </a:r>
            <a:endParaRPr lang="en-US" sz="1400" dirty="0"/>
          </a:p>
        </p:txBody>
      </p:sp>
      <p:sp>
        <p:nvSpPr>
          <p:cNvPr id="16" name="num-63"/>
          <p:cNvSpPr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7" name="text-64"/>
          <p:cNvSpPr txBox="1"/>
          <p:nvPr/>
        </p:nvSpPr>
        <p:spPr>
          <a:xfrm>
            <a:off x="5486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-65"/>
          <p:cNvSpPr txBox="1"/>
          <p:nvPr/>
        </p:nvSpPr>
        <p:spPr>
          <a:xfrm>
            <a:off x="1188720" y="4096512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 tap “Join with a code”</a:t>
            </a:r>
            <a:endParaRPr lang="en-US" sz="1600" dirty="0"/>
          </a:p>
        </p:txBody>
      </p:sp>
      <p:sp>
        <p:nvSpPr>
          <p:cNvPr id="19" name="text-66"/>
          <p:cNvSpPr txBox="1"/>
          <p:nvPr/>
        </p:nvSpPr>
        <p:spPr>
          <a:xfrm>
            <a:off x="1188720" y="4416552"/>
            <a:ext cx="566928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They can be in as many events as they like.</a:t>
            </a:r>
            <a:endParaRPr lang="en-US" sz="1400" dirty="0"/>
          </a:p>
        </p:txBody>
      </p:sp>
      <p:sp>
        <p:nvSpPr>
          <p:cNvPr id="20" name="box-67"/>
          <p:cNvSpPr/>
          <p:nvPr/>
        </p:nvSpPr>
        <p:spPr>
          <a:xfrm>
            <a:off x="7315200" y="1874520"/>
            <a:ext cx="4297680" cy="237744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1" name="text-68"/>
          <p:cNvSpPr txBox="1"/>
          <p:nvPr/>
        </p:nvSpPr>
        <p:spPr>
          <a:xfrm>
            <a:off x="763524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CODE</a:t>
            </a:r>
            <a:endParaRPr lang="en-US" sz="1200" dirty="0"/>
          </a:p>
        </p:txBody>
      </p:sp>
      <p:sp>
        <p:nvSpPr>
          <p:cNvPr id="22" name="text-69"/>
          <p:cNvSpPr txBox="1"/>
          <p:nvPr/>
        </p:nvSpPr>
        <p:spPr>
          <a:xfrm>
            <a:off x="7635240" y="251460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K7P Q2M</a:t>
            </a:r>
            <a:endParaRPr lang="en-US" sz="5400" dirty="0"/>
          </a:p>
        </p:txBody>
      </p:sp>
      <p:sp>
        <p:nvSpPr>
          <p:cNvPr id="23" name="btn-70"/>
          <p:cNvSpPr/>
          <p:nvPr/>
        </p:nvSpPr>
        <p:spPr>
          <a:xfrm>
            <a:off x="7635240" y="3566160"/>
            <a:ext cx="1463040" cy="411480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4" name="text-71"/>
          <p:cNvSpPr txBox="1"/>
          <p:nvPr/>
        </p:nvSpPr>
        <p:spPr>
          <a:xfrm>
            <a:off x="7635240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Copy</a:t>
            </a:r>
            <a:endParaRPr lang="en-US" sz="1400" dirty="0"/>
          </a:p>
        </p:txBody>
      </p:sp>
      <p:sp>
        <p:nvSpPr>
          <p:cNvPr id="25" name="btn-72"/>
          <p:cNvSpPr/>
          <p:nvPr/>
        </p:nvSpPr>
        <p:spPr>
          <a:xfrm>
            <a:off x="9235440" y="3566160"/>
            <a:ext cx="1463040" cy="411480"/>
          </a:xfrm>
          <a:prstGeom prst="rect">
            <a:avLst/>
          </a:prstGeom>
          <a:solidFill>
            <a:schemeClr val="accent2"/>
          </a:solidFill>
          <a:ln w="19050">
            <a:solidFill>
              <a:schemeClr val="bg1"/>
            </a:solidFill>
            <a:prstDash val="solid"/>
          </a:ln>
        </p:spPr>
      </p:sp>
      <p:sp>
        <p:nvSpPr>
          <p:cNvPr id="26" name="text-73"/>
          <p:cNvSpPr txBox="1"/>
          <p:nvPr/>
        </p:nvSpPr>
        <p:spPr>
          <a:xfrm>
            <a:off x="9235440" y="35661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New code</a:t>
            </a:r>
            <a:endParaRPr lang="en-US" sz="1400" dirty="0"/>
          </a:p>
        </p:txBody>
      </p:sp>
      <p:sp>
        <p:nvSpPr>
          <p:cNvPr id="27" name="text-74"/>
          <p:cNvSpPr txBox="1"/>
          <p:nvPr/>
        </p:nvSpPr>
        <p:spPr>
          <a:xfrm>
            <a:off x="7315200" y="4526280"/>
            <a:ext cx="4297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6"/>
                </a:solidFill>
              </a:rPr>
              <a:t>Tabs inside: Overview, Questions (Tests, Cards), Resources, People, Attendance, and for trainers Grades and Settings.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in two minutes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demo-75"/>
          <p:cNvSpPr/>
          <p:nvPr/>
        </p:nvSpPr>
        <p:spPr>
          <a:xfrm>
            <a:off x="8899855" y="502920"/>
            <a:ext cx="1600200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-76"/>
          <p:cNvSpPr txBox="1"/>
          <p:nvPr/>
        </p:nvSpPr>
        <p:spPr>
          <a:xfrm>
            <a:off x="8899855" y="5029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8" name="num-77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9" name="text-78"/>
          <p:cNvSpPr txBox="1"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-79"/>
          <p:cNvSpPr txBox="1"/>
          <p:nvPr/>
        </p:nvSpPr>
        <p:spPr>
          <a:xfrm>
            <a:off x="1188720" y="1764792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› Tests › “New test”</a:t>
            </a:r>
            <a:endParaRPr lang="en-US" sz="1600" dirty="0"/>
          </a:p>
        </p:txBody>
      </p:sp>
      <p:sp>
        <p:nvSpPr>
          <p:cNvPr id="11" name="text-80"/>
          <p:cNvSpPr txBox="1"/>
          <p:nvPr/>
        </p:nvSpPr>
        <p:spPr>
          <a:xfrm>
            <a:off x="1188720" y="2084832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Makes a draft. Rename it.</a:t>
            </a:r>
            <a:endParaRPr lang="en-US" sz="1400" dirty="0"/>
          </a:p>
        </p:txBody>
      </p:sp>
      <p:sp>
        <p:nvSpPr>
          <p:cNvPr id="12" name="num-81"/>
          <p:cNvSpPr/>
          <p:nvPr/>
        </p:nvSpPr>
        <p:spPr>
          <a:xfrm>
            <a:off x="548640" y="2807208"/>
            <a:ext cx="457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3" name="text-82"/>
          <p:cNvSpPr txBox="1"/>
          <p:nvPr/>
        </p:nvSpPr>
        <p:spPr>
          <a:xfrm>
            <a:off x="548640" y="2807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-83"/>
          <p:cNvSpPr txBox="1"/>
          <p:nvPr/>
        </p:nvSpPr>
        <p:spPr>
          <a:xfrm>
            <a:off x="1188720" y="2788920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“Write one” or “Paste many”</a:t>
            </a:r>
            <a:endParaRPr lang="en-US" sz="1600" dirty="0"/>
          </a:p>
        </p:txBody>
      </p:sp>
      <p:sp>
        <p:nvSpPr>
          <p:cNvPr id="15" name="text-84"/>
          <p:cNvSpPr txBox="1"/>
          <p:nvPr/>
        </p:nvSpPr>
        <p:spPr>
          <a:xfrm>
            <a:off x="1188720" y="3108960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Paste a whole past test. Check the preview, then add.</a:t>
            </a:r>
            <a:endParaRPr lang="en-US" sz="1400" dirty="0"/>
          </a:p>
        </p:txBody>
      </p:sp>
      <p:sp>
        <p:nvSpPr>
          <p:cNvPr id="16" name="num-85"/>
          <p:cNvSpPr/>
          <p:nvPr/>
        </p:nvSpPr>
        <p:spPr>
          <a:xfrm>
            <a:off x="548640" y="3831336"/>
            <a:ext cx="457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7" name="text-86"/>
          <p:cNvSpPr txBox="1"/>
          <p:nvPr/>
        </p:nvSpPr>
        <p:spPr>
          <a:xfrm>
            <a:off x="548640" y="3831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-87"/>
          <p:cNvSpPr txBox="1"/>
          <p:nvPr/>
        </p:nvSpPr>
        <p:spPr>
          <a:xfrm>
            <a:off x="1188720" y="3813048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the details</a:t>
            </a:r>
            <a:endParaRPr lang="en-US" sz="1600" dirty="0"/>
          </a:p>
        </p:txBody>
      </p:sp>
      <p:sp>
        <p:nvSpPr>
          <p:cNvPr id="19" name="text-88"/>
          <p:cNvSpPr txBox="1"/>
          <p:nvPr/>
        </p:nvSpPr>
        <p:spPr>
          <a:xfrm>
            <a:off x="1188720" y="4133088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Time limit = timed. Turn off “Show correct answers” for a real mock exam.</a:t>
            </a:r>
            <a:endParaRPr lang="en-US" sz="1400" dirty="0"/>
          </a:p>
        </p:txBody>
      </p:sp>
      <p:sp>
        <p:nvSpPr>
          <p:cNvPr id="20" name="num-89"/>
          <p:cNvSpPr/>
          <p:nvPr/>
        </p:nvSpPr>
        <p:spPr>
          <a:xfrm>
            <a:off x="548640" y="4855464"/>
            <a:ext cx="457200" cy="4572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1" name="text-90"/>
          <p:cNvSpPr txBox="1"/>
          <p:nvPr/>
        </p:nvSpPr>
        <p:spPr>
          <a:xfrm>
            <a:off x="548640" y="4855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-91"/>
          <p:cNvSpPr txBox="1"/>
          <p:nvPr/>
        </p:nvSpPr>
        <p:spPr>
          <a:xfrm>
            <a:off x="1188720" y="483717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“Post”</a:t>
            </a:r>
            <a:endParaRPr lang="en-US" sz="1600" dirty="0"/>
          </a:p>
        </p:txBody>
      </p:sp>
      <p:sp>
        <p:nvSpPr>
          <p:cNvPr id="23" name="text-92"/>
          <p:cNvSpPr txBox="1"/>
          <p:nvPr/>
        </p:nvSpPr>
        <p:spPr>
          <a:xfrm>
            <a:off x="1188720" y="5157216"/>
            <a:ext cx="53949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Graded automatically. Members never see the key before they submit.</a:t>
            </a:r>
            <a:endParaRPr lang="en-US" sz="1400" dirty="0"/>
          </a:p>
        </p:txBody>
      </p:sp>
      <p:sp>
        <p:nvSpPr>
          <p:cNvPr id="24" name="box-93"/>
          <p:cNvSpPr/>
          <p:nvPr/>
        </p:nvSpPr>
        <p:spPr>
          <a:xfrm>
            <a:off x="6858000" y="1783080"/>
            <a:ext cx="4785055" cy="4160520"/>
          </a:xfrm>
          <a:prstGeom prst="rect">
            <a:avLst/>
          </a:prstGeom>
          <a:solidFill>
            <a:schemeClr val="tx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5" name="text-94"/>
          <p:cNvSpPr txBox="1"/>
          <p:nvPr/>
        </p:nvSpPr>
        <p:spPr>
          <a:xfrm>
            <a:off x="717804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MANY</a:t>
            </a:r>
            <a:endParaRPr lang="en-US" sz="1100" dirty="0"/>
          </a:p>
        </p:txBody>
      </p:sp>
      <p:sp>
        <p:nvSpPr>
          <p:cNvPr id="26" name="text-95"/>
          <p:cNvSpPr txBox="1"/>
          <p:nvPr/>
        </p:nvSpPr>
        <p:spPr>
          <a:xfrm>
            <a:off x="7178040" y="2423160"/>
            <a:ext cx="423641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Which bone is the longest?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Humerus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 Femur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 Tibia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 Fibula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Normal resting heart rate?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 30-50  B. 60-100  C. 110-140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Answer: B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SHORTCUT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Got a past test? Drop it in the Drive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text-96"/>
          <p:cNvSpPr txBox="1"/>
          <p:nvPr/>
        </p:nvSpPr>
        <p:spPr>
          <a:xfrm>
            <a:off x="548640" y="1600200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Bulk uploading is fiddly, so send past tests to one shared Google Drive folder and I'll put them on the site for you.</a:t>
            </a:r>
            <a:endParaRPr lang="en-US" sz="1800" dirty="0"/>
          </a:p>
        </p:txBody>
      </p:sp>
      <p:sp>
        <p:nvSpPr>
          <p:cNvPr id="7" name="box-97"/>
          <p:cNvSpPr/>
          <p:nvPr/>
        </p:nvSpPr>
        <p:spPr>
          <a:xfrm>
            <a:off x="548640" y="2514600"/>
            <a:ext cx="2567864" cy="201168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8" name="tile-98"/>
          <p:cNvSpPr/>
          <p:nvPr/>
        </p:nvSpPr>
        <p:spPr>
          <a:xfrm>
            <a:off x="777240" y="2743200"/>
            <a:ext cx="548640" cy="54864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9" name="icon-99" descr="FileTex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941" y="2863901"/>
            <a:ext cx="307238" cy="307238"/>
          </a:xfrm>
          <a:prstGeom prst="rect">
            <a:avLst/>
          </a:prstGeom>
        </p:spPr>
      </p:pic>
      <p:sp>
        <p:nvSpPr>
          <p:cNvPr id="10" name="text-100"/>
          <p:cNvSpPr txBox="1"/>
          <p:nvPr/>
        </p:nvSpPr>
        <p:spPr>
          <a:xfrm>
            <a:off x="777240" y="34290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the test</a:t>
            </a:r>
            <a:endParaRPr lang="en-US" sz="1700" dirty="0"/>
          </a:p>
        </p:txBody>
      </p:sp>
      <p:sp>
        <p:nvSpPr>
          <p:cNvPr id="11" name="text-101"/>
          <p:cNvSpPr txBox="1"/>
          <p:nvPr/>
        </p:nvSpPr>
        <p:spPr>
          <a:xfrm>
            <a:off x="777240" y="379476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 past competition test: PDF, Google Doc or Word, with its answer key.</a:t>
            </a:r>
            <a:endParaRPr lang="en-US" sz="1300" dirty="0"/>
          </a:p>
        </p:txBody>
      </p:sp>
      <p:pic>
        <p:nvPicPr>
          <p:cNvPr id="12" name="arrow-102" descr="the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936" y="3401568"/>
            <a:ext cx="219456" cy="219456"/>
          </a:xfrm>
          <a:prstGeom prst="rect">
            <a:avLst/>
          </a:prstGeom>
        </p:spPr>
      </p:pic>
      <p:sp>
        <p:nvSpPr>
          <p:cNvPr id="13" name="box-103"/>
          <p:cNvSpPr/>
          <p:nvPr/>
        </p:nvSpPr>
        <p:spPr>
          <a:xfrm>
            <a:off x="3390824" y="2514600"/>
            <a:ext cx="2567864" cy="201168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4" name="tile-104"/>
          <p:cNvSpPr/>
          <p:nvPr/>
        </p:nvSpPr>
        <p:spPr>
          <a:xfrm>
            <a:off x="3619424" y="2743200"/>
            <a:ext cx="548640" cy="54864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5" name="icon-105" descr="CloudUpload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0125" y="2863901"/>
            <a:ext cx="307238" cy="307238"/>
          </a:xfrm>
          <a:prstGeom prst="rect">
            <a:avLst/>
          </a:prstGeom>
        </p:spPr>
      </p:pic>
      <p:sp>
        <p:nvSpPr>
          <p:cNvPr id="16" name="text-106"/>
          <p:cNvSpPr txBox="1"/>
          <p:nvPr/>
        </p:nvSpPr>
        <p:spPr>
          <a:xfrm>
            <a:off x="3619424" y="34290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 it in the Drive</a:t>
            </a:r>
            <a:endParaRPr lang="en-US" sz="1700" dirty="0"/>
          </a:p>
        </p:txBody>
      </p:sp>
      <p:sp>
        <p:nvSpPr>
          <p:cNvPr id="17" name="text-107"/>
          <p:cNvSpPr txBox="1"/>
          <p:nvPr/>
        </p:nvSpPr>
        <p:spPr>
          <a:xfrm>
            <a:off x="3619424" y="379476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Upload it to the shared folder (link below).</a:t>
            </a:r>
            <a:endParaRPr lang="en-US" sz="1300" dirty="0"/>
          </a:p>
        </p:txBody>
      </p:sp>
      <p:pic>
        <p:nvPicPr>
          <p:cNvPr id="18" name="arrow-108" descr="th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6120" y="3401568"/>
            <a:ext cx="219456" cy="219456"/>
          </a:xfrm>
          <a:prstGeom prst="rect">
            <a:avLst/>
          </a:prstGeom>
        </p:spPr>
      </p:pic>
      <p:sp>
        <p:nvSpPr>
          <p:cNvPr id="19" name="box-109"/>
          <p:cNvSpPr/>
          <p:nvPr/>
        </p:nvSpPr>
        <p:spPr>
          <a:xfrm>
            <a:off x="6233008" y="2514600"/>
            <a:ext cx="2567864" cy="201168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0" name="tile-110"/>
          <p:cNvSpPr/>
          <p:nvPr/>
        </p:nvSpPr>
        <p:spPr>
          <a:xfrm>
            <a:off x="6461608" y="2743200"/>
            <a:ext cx="548640" cy="54864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1" name="icon-111" descr="Pencil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2308" y="2863901"/>
            <a:ext cx="307238" cy="307238"/>
          </a:xfrm>
          <a:prstGeom prst="rect">
            <a:avLst/>
          </a:prstGeom>
        </p:spPr>
      </p:pic>
      <p:sp>
        <p:nvSpPr>
          <p:cNvPr id="22" name="text-112"/>
          <p:cNvSpPr txBox="1"/>
          <p:nvPr/>
        </p:nvSpPr>
        <p:spPr>
          <a:xfrm>
            <a:off x="6461608" y="34290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it clearly</a:t>
            </a:r>
            <a:endParaRPr lang="en-US" sz="1700" dirty="0"/>
          </a:p>
        </p:txBody>
      </p:sp>
      <p:sp>
        <p:nvSpPr>
          <p:cNvPr id="23" name="text-113"/>
          <p:cNvSpPr txBox="1"/>
          <p:nvPr/>
        </p:nvSpPr>
        <p:spPr>
          <a:xfrm>
            <a:off x="6461608" y="379476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Event + year, e.g. “Medical Terminology 2025”.</a:t>
            </a:r>
            <a:endParaRPr lang="en-US" sz="1300" dirty="0"/>
          </a:p>
        </p:txBody>
      </p:sp>
      <p:pic>
        <p:nvPicPr>
          <p:cNvPr id="24" name="arrow-114" descr="the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8303" y="3401568"/>
            <a:ext cx="219456" cy="219456"/>
          </a:xfrm>
          <a:prstGeom prst="rect">
            <a:avLst/>
          </a:prstGeom>
        </p:spPr>
      </p:pic>
      <p:sp>
        <p:nvSpPr>
          <p:cNvPr id="25" name="box-115"/>
          <p:cNvSpPr/>
          <p:nvPr/>
        </p:nvSpPr>
        <p:spPr>
          <a:xfrm>
            <a:off x="9075191" y="2514600"/>
            <a:ext cx="2567864" cy="201168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6" name="tile-116"/>
          <p:cNvSpPr/>
          <p:nvPr/>
        </p:nvSpPr>
        <p:spPr>
          <a:xfrm>
            <a:off x="9303791" y="2743200"/>
            <a:ext cx="548640" cy="548640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27" name="icon-117" descr="CircleCheck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24492" y="2863901"/>
            <a:ext cx="307238" cy="307238"/>
          </a:xfrm>
          <a:prstGeom prst="rect">
            <a:avLst/>
          </a:prstGeom>
        </p:spPr>
      </p:pic>
      <p:sp>
        <p:nvSpPr>
          <p:cNvPr id="28" name="text-118"/>
          <p:cNvSpPr txBox="1"/>
          <p:nvPr/>
        </p:nvSpPr>
        <p:spPr>
          <a:xfrm>
            <a:off x="9303791" y="342900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upload it</a:t>
            </a:r>
            <a:endParaRPr lang="en-US" sz="1700" dirty="0"/>
          </a:p>
        </p:txBody>
      </p:sp>
      <p:sp>
        <p:nvSpPr>
          <p:cNvPr id="29" name="text-119"/>
          <p:cNvSpPr txBox="1"/>
          <p:nvPr/>
        </p:nvSpPr>
        <p:spPr>
          <a:xfrm>
            <a:off x="9303791" y="3794760"/>
            <a:ext cx="22021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It shows up as a test in that event's room.</a:t>
            </a:r>
            <a:endParaRPr lang="en-US" sz="1300" dirty="0"/>
          </a:p>
        </p:txBody>
      </p:sp>
      <p:sp>
        <p:nvSpPr>
          <p:cNvPr id="30" name="box-120"/>
          <p:cNvSpPr/>
          <p:nvPr/>
        </p:nvSpPr>
        <p:spPr>
          <a:xfrm>
            <a:off x="548640" y="4846320"/>
            <a:ext cx="11094415" cy="1143000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accent1"/>
            </a:solidFill>
            <a:prstDash val="solid"/>
          </a:ln>
        </p:spPr>
      </p:sp>
      <p:pic>
        <p:nvPicPr>
          <p:cNvPr id="31" name="link-121" descr="Link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" y="5120640"/>
            <a:ext cx="548640" cy="548640"/>
          </a:xfrm>
          <a:prstGeom prst="rect">
            <a:avLst/>
          </a:prstGeom>
        </p:spPr>
      </p:pic>
      <p:sp>
        <p:nvSpPr>
          <p:cNvPr id="32" name="text-122"/>
          <p:cNvSpPr txBox="1"/>
          <p:nvPr/>
        </p:nvSpPr>
        <p:spPr>
          <a:xfrm>
            <a:off x="1691640" y="4983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DRIVE FOLDER</a:t>
            </a:r>
            <a:endParaRPr lang="en-US" sz="1100" dirty="0"/>
          </a:p>
        </p:txBody>
      </p:sp>
      <p:sp>
        <p:nvSpPr>
          <p:cNvPr id="33" name="text-123"/>
          <p:cNvSpPr txBox="1"/>
          <p:nvPr/>
        </p:nvSpPr>
        <p:spPr>
          <a:xfrm>
            <a:off x="1691640" y="5285232"/>
            <a:ext cx="96313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paste the Google Drive folder link here ]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keeps members practising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demo-124"/>
          <p:cNvSpPr/>
          <p:nvPr/>
        </p:nvSpPr>
        <p:spPr>
          <a:xfrm>
            <a:off x="8899855" y="502920"/>
            <a:ext cx="1600200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-125"/>
          <p:cNvSpPr txBox="1"/>
          <p:nvPr/>
        </p:nvSpPr>
        <p:spPr>
          <a:xfrm>
            <a:off x="8899855" y="5029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8" name="box-126"/>
          <p:cNvSpPr/>
          <p:nvPr/>
        </p:nvSpPr>
        <p:spPr>
          <a:xfrm>
            <a:off x="548640" y="1783080"/>
            <a:ext cx="3564026" cy="224028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9" name="tile-127"/>
          <p:cNvSpPr/>
          <p:nvPr/>
        </p:nvSpPr>
        <p:spPr>
          <a:xfrm>
            <a:off x="804672" y="2039112"/>
            <a:ext cx="566928" cy="566928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0" name="icon-128" descr="Layer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96" y="2163836"/>
            <a:ext cx="317480" cy="317480"/>
          </a:xfrm>
          <a:prstGeom prst="rect">
            <a:avLst/>
          </a:prstGeom>
        </p:spPr>
      </p:pic>
      <p:sp>
        <p:nvSpPr>
          <p:cNvPr id="11" name="text-129"/>
          <p:cNvSpPr txBox="1"/>
          <p:nvPr/>
        </p:nvSpPr>
        <p:spPr>
          <a:xfrm>
            <a:off x="1536192" y="2039112"/>
            <a:ext cx="23753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Flashcards</a:t>
            </a:r>
            <a:endParaRPr lang="en-US" sz="1900" dirty="0"/>
          </a:p>
        </p:txBody>
      </p:sp>
      <p:sp>
        <p:nvSpPr>
          <p:cNvPr id="12" name="text-130"/>
          <p:cNvSpPr txBox="1"/>
          <p:nvPr/>
        </p:nvSpPr>
        <p:spPr>
          <a:xfrm>
            <a:off x="804672" y="2770632"/>
            <a:ext cx="31068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Paste “term - definition” lines to build a deck. Share it with the room. Study or Match.</a:t>
            </a:r>
            <a:endParaRPr lang="en-US" sz="1600" dirty="0"/>
          </a:p>
        </p:txBody>
      </p:sp>
      <p:sp>
        <p:nvSpPr>
          <p:cNvPr id="13" name="box-131"/>
          <p:cNvSpPr/>
          <p:nvPr/>
        </p:nvSpPr>
        <p:spPr>
          <a:xfrm>
            <a:off x="4313834" y="1783080"/>
            <a:ext cx="3564026" cy="224028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4" name="tile-132"/>
          <p:cNvSpPr/>
          <p:nvPr/>
        </p:nvSpPr>
        <p:spPr>
          <a:xfrm>
            <a:off x="4569866" y="2039112"/>
            <a:ext cx="566928" cy="566928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15" name="icon-133" descr="Sword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591" y="2163836"/>
            <a:ext cx="317480" cy="317480"/>
          </a:xfrm>
          <a:prstGeom prst="rect">
            <a:avLst/>
          </a:prstGeom>
        </p:spPr>
      </p:pic>
      <p:sp>
        <p:nvSpPr>
          <p:cNvPr id="16" name="text-134"/>
          <p:cNvSpPr txBox="1"/>
          <p:nvPr/>
        </p:nvSpPr>
        <p:spPr>
          <a:xfrm>
            <a:off x="5301386" y="2039112"/>
            <a:ext cx="23753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Battles</a:t>
            </a:r>
            <a:endParaRPr lang="en-US" sz="1900" dirty="0"/>
          </a:p>
        </p:txBody>
      </p:sp>
      <p:sp>
        <p:nvSpPr>
          <p:cNvPr id="17" name="text-135"/>
          <p:cNvSpPr txBox="1"/>
          <p:nvPr/>
        </p:nvSpPr>
        <p:spPr>
          <a:xfrm>
            <a:off x="4569866" y="2770632"/>
            <a:ext cx="31068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Live quiz rounds, 1v1 up to Teams. Host gets a code, everyone joins. Great for meetings.</a:t>
            </a:r>
            <a:endParaRPr lang="en-US" sz="1600" dirty="0"/>
          </a:p>
        </p:txBody>
      </p:sp>
      <p:sp>
        <p:nvSpPr>
          <p:cNvPr id="18" name="box-136"/>
          <p:cNvSpPr/>
          <p:nvPr/>
        </p:nvSpPr>
        <p:spPr>
          <a:xfrm>
            <a:off x="8079029" y="1783080"/>
            <a:ext cx="3564026" cy="224028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9" name="tile-137"/>
          <p:cNvSpPr/>
          <p:nvPr/>
        </p:nvSpPr>
        <p:spPr>
          <a:xfrm>
            <a:off x="8335061" y="2039112"/>
            <a:ext cx="566928" cy="566928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0" name="icon-138" descr="Trophy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9785" y="2163836"/>
            <a:ext cx="317480" cy="317480"/>
          </a:xfrm>
          <a:prstGeom prst="rect">
            <a:avLst/>
          </a:prstGeom>
        </p:spPr>
      </p:pic>
      <p:sp>
        <p:nvSpPr>
          <p:cNvPr id="21" name="text-139"/>
          <p:cNvSpPr txBox="1"/>
          <p:nvPr/>
        </p:nvSpPr>
        <p:spPr>
          <a:xfrm>
            <a:off x="9066581" y="2039112"/>
            <a:ext cx="23753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</a:t>
            </a:r>
            <a:endParaRPr lang="en-US" sz="1900" dirty="0"/>
          </a:p>
        </p:txBody>
      </p:sp>
      <p:sp>
        <p:nvSpPr>
          <p:cNvPr id="22" name="text-140"/>
          <p:cNvSpPr txBox="1"/>
          <p:nvPr/>
        </p:nvSpPr>
        <p:spPr>
          <a:xfrm>
            <a:off x="8335061" y="2770632"/>
            <a:ext cx="310682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Elo, hours, questions and accuracy, by today, week, month or all time.</a:t>
            </a:r>
            <a:endParaRPr lang="en-US" sz="1600" dirty="0"/>
          </a:p>
        </p:txBody>
      </p:sp>
      <p:sp>
        <p:nvSpPr>
          <p:cNvPr id="23" name="text-141"/>
          <p:cNvSpPr txBox="1"/>
          <p:nvPr/>
        </p:nvSpPr>
        <p:spPr>
          <a:xfrm>
            <a:off x="548640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Elo: new questions earn the most (5 if right, 2 if wrong), plus daily sign-in and streak bonuses.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TOOLS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the chapter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demo-142"/>
          <p:cNvSpPr/>
          <p:nvPr/>
        </p:nvSpPr>
        <p:spPr>
          <a:xfrm>
            <a:off x="8899855" y="502920"/>
            <a:ext cx="1600200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-143"/>
          <p:cNvSpPr txBox="1"/>
          <p:nvPr/>
        </p:nvSpPr>
        <p:spPr>
          <a:xfrm>
            <a:off x="8899855" y="5029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8" name="box-144"/>
          <p:cNvSpPr/>
          <p:nvPr/>
        </p:nvSpPr>
        <p:spPr>
          <a:xfrm>
            <a:off x="548640" y="1783080"/>
            <a:ext cx="5446624" cy="18745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9" name="tile-145"/>
          <p:cNvSpPr/>
          <p:nvPr/>
        </p:nvSpPr>
        <p:spPr>
          <a:xfrm>
            <a:off x="804672" y="2039112"/>
            <a:ext cx="566928" cy="566928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0" name="icon-146" descr="Megaphon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96" y="2163836"/>
            <a:ext cx="317480" cy="317480"/>
          </a:xfrm>
          <a:prstGeom prst="rect">
            <a:avLst/>
          </a:prstGeom>
        </p:spPr>
      </p:pic>
      <p:sp>
        <p:nvSpPr>
          <p:cNvPr id="11" name="text-147"/>
          <p:cNvSpPr txBox="1"/>
          <p:nvPr/>
        </p:nvSpPr>
        <p:spPr>
          <a:xfrm>
            <a:off x="1536192" y="2039112"/>
            <a:ext cx="425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Announcements</a:t>
            </a:r>
            <a:endParaRPr lang="en-US" sz="1900" dirty="0"/>
          </a:p>
        </p:txBody>
      </p:sp>
      <p:sp>
        <p:nvSpPr>
          <p:cNvPr id="12" name="text-148"/>
          <p:cNvSpPr txBox="1"/>
          <p:nvPr/>
        </p:nvSpPr>
        <p:spPr>
          <a:xfrm>
            <a:off x="804672" y="2770632"/>
            <a:ext cx="498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Post to the whole chapter or one event. Pin the important ones. Everyone gets notified.</a:t>
            </a:r>
            <a:endParaRPr lang="en-US" sz="1600" dirty="0"/>
          </a:p>
        </p:txBody>
      </p:sp>
      <p:sp>
        <p:nvSpPr>
          <p:cNvPr id="13" name="box-149"/>
          <p:cNvSpPr/>
          <p:nvPr/>
        </p:nvSpPr>
        <p:spPr>
          <a:xfrm>
            <a:off x="6196432" y="1783080"/>
            <a:ext cx="5446624" cy="18745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4" name="tile-150"/>
          <p:cNvSpPr/>
          <p:nvPr/>
        </p:nvSpPr>
        <p:spPr>
          <a:xfrm>
            <a:off x="6452464" y="2039112"/>
            <a:ext cx="566928" cy="566928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5" name="icon-151" descr="CalendarDay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188" y="2163836"/>
            <a:ext cx="317480" cy="317480"/>
          </a:xfrm>
          <a:prstGeom prst="rect">
            <a:avLst/>
          </a:prstGeom>
        </p:spPr>
      </p:pic>
      <p:sp>
        <p:nvSpPr>
          <p:cNvPr id="16" name="text-152"/>
          <p:cNvSpPr txBox="1"/>
          <p:nvPr/>
        </p:nvSpPr>
        <p:spPr>
          <a:xfrm>
            <a:off x="7183984" y="2039112"/>
            <a:ext cx="425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</a:t>
            </a:r>
            <a:endParaRPr lang="en-US" sz="1900" dirty="0"/>
          </a:p>
        </p:txBody>
      </p:sp>
      <p:sp>
        <p:nvSpPr>
          <p:cNvPr id="17" name="text-153"/>
          <p:cNvSpPr txBox="1"/>
          <p:nvPr/>
        </p:nvSpPr>
        <p:spPr>
          <a:xfrm>
            <a:off x="6452464" y="2770632"/>
            <a:ext cx="498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Chapter, event or personal events. Members get a reminder the morning of.</a:t>
            </a:r>
            <a:endParaRPr lang="en-US" sz="1600" dirty="0"/>
          </a:p>
        </p:txBody>
      </p:sp>
      <p:sp>
        <p:nvSpPr>
          <p:cNvPr id="18" name="box-154"/>
          <p:cNvSpPr/>
          <p:nvPr/>
        </p:nvSpPr>
        <p:spPr>
          <a:xfrm>
            <a:off x="548640" y="3858768"/>
            <a:ext cx="5446624" cy="18745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9" name="tile-155"/>
          <p:cNvSpPr/>
          <p:nvPr/>
        </p:nvSpPr>
        <p:spPr>
          <a:xfrm>
            <a:off x="804672" y="4114800"/>
            <a:ext cx="566928" cy="566928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0" name="icon-156" descr="FolderOpen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396" y="4239524"/>
            <a:ext cx="317480" cy="317480"/>
          </a:xfrm>
          <a:prstGeom prst="rect">
            <a:avLst/>
          </a:prstGeom>
        </p:spPr>
      </p:pic>
      <p:sp>
        <p:nvSpPr>
          <p:cNvPr id="21" name="text-157"/>
          <p:cNvSpPr txBox="1"/>
          <p:nvPr/>
        </p:nvSpPr>
        <p:spPr>
          <a:xfrm>
            <a:off x="1536192" y="4114800"/>
            <a:ext cx="425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 and links</a:t>
            </a:r>
            <a:endParaRPr lang="en-US" sz="1900" dirty="0"/>
          </a:p>
        </p:txBody>
      </p:sp>
      <p:sp>
        <p:nvSpPr>
          <p:cNvPr id="22" name="text-158"/>
          <p:cNvSpPr txBox="1"/>
          <p:nvPr/>
        </p:nvSpPr>
        <p:spPr>
          <a:xfrm>
            <a:off x="804672" y="4846320"/>
            <a:ext cx="498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Up to 50 MB a file, grouped into sections like “Past tests”.</a:t>
            </a:r>
            <a:endParaRPr lang="en-US" sz="1600" dirty="0"/>
          </a:p>
        </p:txBody>
      </p:sp>
      <p:sp>
        <p:nvSpPr>
          <p:cNvPr id="23" name="box-159"/>
          <p:cNvSpPr/>
          <p:nvPr/>
        </p:nvSpPr>
        <p:spPr>
          <a:xfrm>
            <a:off x="6196432" y="3858768"/>
            <a:ext cx="5446624" cy="18745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4" name="tile-160"/>
          <p:cNvSpPr/>
          <p:nvPr/>
        </p:nvSpPr>
        <p:spPr>
          <a:xfrm>
            <a:off x="6452464" y="4114800"/>
            <a:ext cx="566928" cy="566928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5" name="icon-161" descr="ClipboardCheck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7188" y="4239524"/>
            <a:ext cx="317480" cy="317480"/>
          </a:xfrm>
          <a:prstGeom prst="rect">
            <a:avLst/>
          </a:prstGeom>
        </p:spPr>
      </p:pic>
      <p:sp>
        <p:nvSpPr>
          <p:cNvPr id="26" name="text-162"/>
          <p:cNvSpPr txBox="1"/>
          <p:nvPr/>
        </p:nvSpPr>
        <p:spPr>
          <a:xfrm>
            <a:off x="7183984" y="4114800"/>
            <a:ext cx="425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900" dirty="0"/>
          </a:p>
        </p:txBody>
      </p:sp>
      <p:sp>
        <p:nvSpPr>
          <p:cNvPr id="27" name="text-163"/>
          <p:cNvSpPr txBox="1"/>
          <p:nvPr/>
        </p:nvSpPr>
        <p:spPr>
          <a:xfrm>
            <a:off x="6452464" y="4846320"/>
            <a:ext cx="498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Admin › Attendance: one tap per member for every event, plus season totals.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EXECS ONLY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page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demo-164"/>
          <p:cNvSpPr/>
          <p:nvPr/>
        </p:nvSpPr>
        <p:spPr>
          <a:xfrm>
            <a:off x="8899855" y="502920"/>
            <a:ext cx="1600200" cy="38404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-165"/>
          <p:cNvSpPr txBox="1"/>
          <p:nvPr/>
        </p:nvSpPr>
        <p:spPr>
          <a:xfrm>
            <a:off x="8899855" y="502920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8" name="box-166"/>
          <p:cNvSpPr/>
          <p:nvPr/>
        </p:nvSpPr>
        <p:spPr>
          <a:xfrm>
            <a:off x="548640" y="1783080"/>
            <a:ext cx="5446624" cy="16916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9" name="tile-167"/>
          <p:cNvSpPr/>
          <p:nvPr/>
        </p:nvSpPr>
        <p:spPr>
          <a:xfrm>
            <a:off x="804672" y="2039112"/>
            <a:ext cx="566928" cy="566928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0" name="icon-168" descr="UserCog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96" y="2163836"/>
            <a:ext cx="317480" cy="317480"/>
          </a:xfrm>
          <a:prstGeom prst="rect">
            <a:avLst/>
          </a:prstGeom>
        </p:spPr>
      </p:pic>
      <p:sp>
        <p:nvSpPr>
          <p:cNvPr id="11" name="text-169"/>
          <p:cNvSpPr txBox="1"/>
          <p:nvPr/>
        </p:nvSpPr>
        <p:spPr>
          <a:xfrm>
            <a:off x="1536192" y="2039112"/>
            <a:ext cx="425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</a:t>
            </a:r>
            <a:endParaRPr lang="en-US" sz="1900" dirty="0"/>
          </a:p>
        </p:txBody>
      </p:sp>
      <p:sp>
        <p:nvSpPr>
          <p:cNvPr id="12" name="text-170"/>
          <p:cNvSpPr txBox="1"/>
          <p:nvPr/>
        </p:nvSpPr>
        <p:spPr>
          <a:xfrm>
            <a:off x="804672" y="2770632"/>
            <a:ext cx="498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Switch anyone between Trainee and Trainer.</a:t>
            </a:r>
            <a:endParaRPr lang="en-US" sz="1600" dirty="0"/>
          </a:p>
        </p:txBody>
      </p:sp>
      <p:sp>
        <p:nvSpPr>
          <p:cNvPr id="13" name="box-171"/>
          <p:cNvSpPr/>
          <p:nvPr/>
        </p:nvSpPr>
        <p:spPr>
          <a:xfrm>
            <a:off x="6196432" y="1783080"/>
            <a:ext cx="5446624" cy="16916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4" name="tile-172"/>
          <p:cNvSpPr/>
          <p:nvPr/>
        </p:nvSpPr>
        <p:spPr>
          <a:xfrm>
            <a:off x="6452464" y="2039112"/>
            <a:ext cx="566928" cy="566928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5" name="icon-173" descr="TriangleAler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188" y="2163836"/>
            <a:ext cx="317480" cy="317480"/>
          </a:xfrm>
          <a:prstGeom prst="rect">
            <a:avLst/>
          </a:prstGeom>
        </p:spPr>
      </p:pic>
      <p:sp>
        <p:nvSpPr>
          <p:cNvPr id="16" name="text-174"/>
          <p:cNvSpPr txBox="1"/>
          <p:nvPr/>
        </p:nvSpPr>
        <p:spPr>
          <a:xfrm>
            <a:off x="7183984" y="2039112"/>
            <a:ext cx="425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 and ban</a:t>
            </a:r>
            <a:endParaRPr lang="en-US" sz="1900" dirty="0"/>
          </a:p>
        </p:txBody>
      </p:sp>
      <p:sp>
        <p:nvSpPr>
          <p:cNvPr id="17" name="text-175"/>
          <p:cNvSpPr txBox="1"/>
          <p:nvPr/>
        </p:nvSpPr>
        <p:spPr>
          <a:xfrm>
            <a:off x="6452464" y="2770632"/>
            <a:ext cx="498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Warnings first. Bans for a day, a week, or longer.</a:t>
            </a:r>
            <a:endParaRPr lang="en-US" sz="1600" dirty="0"/>
          </a:p>
        </p:txBody>
      </p:sp>
      <p:sp>
        <p:nvSpPr>
          <p:cNvPr id="18" name="box-176"/>
          <p:cNvSpPr/>
          <p:nvPr/>
        </p:nvSpPr>
        <p:spPr>
          <a:xfrm>
            <a:off x="548640" y="3675888"/>
            <a:ext cx="5446624" cy="16916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9" name="tile-177"/>
          <p:cNvSpPr/>
          <p:nvPr/>
        </p:nvSpPr>
        <p:spPr>
          <a:xfrm>
            <a:off x="804672" y="3931920"/>
            <a:ext cx="566928" cy="566928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0" name="icon-178" descr="Loc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396" y="4056644"/>
            <a:ext cx="317480" cy="317480"/>
          </a:xfrm>
          <a:prstGeom prst="rect">
            <a:avLst/>
          </a:prstGeom>
        </p:spPr>
      </p:pic>
      <p:sp>
        <p:nvSpPr>
          <p:cNvPr id="21" name="text-179"/>
          <p:cNvSpPr txBox="1"/>
          <p:nvPr/>
        </p:nvSpPr>
        <p:spPr>
          <a:xfrm>
            <a:off x="1536192" y="3931920"/>
            <a:ext cx="425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Chapter code</a:t>
            </a:r>
            <a:endParaRPr lang="en-US" sz="1900" dirty="0"/>
          </a:p>
        </p:txBody>
      </p:sp>
      <p:sp>
        <p:nvSpPr>
          <p:cNvPr id="22" name="text-180"/>
          <p:cNvSpPr txBox="1"/>
          <p:nvPr/>
        </p:nvSpPr>
        <p:spPr>
          <a:xfrm>
            <a:off x="804672" y="4663440"/>
            <a:ext cx="498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When it's set, new sign-ups need the code.</a:t>
            </a:r>
            <a:endParaRPr lang="en-US" sz="1600" dirty="0"/>
          </a:p>
        </p:txBody>
      </p:sp>
      <p:sp>
        <p:nvSpPr>
          <p:cNvPr id="23" name="box-181"/>
          <p:cNvSpPr/>
          <p:nvPr/>
        </p:nvSpPr>
        <p:spPr>
          <a:xfrm>
            <a:off x="6196432" y="3675888"/>
            <a:ext cx="5446624" cy="169164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4" name="tile-182"/>
          <p:cNvSpPr/>
          <p:nvPr/>
        </p:nvSpPr>
        <p:spPr>
          <a:xfrm>
            <a:off x="6452464" y="3931920"/>
            <a:ext cx="566928" cy="566928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25" name="icon-183" descr="FolderOpen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7188" y="4056644"/>
            <a:ext cx="317480" cy="317480"/>
          </a:xfrm>
          <a:prstGeom prst="rect">
            <a:avLst/>
          </a:prstGeom>
        </p:spPr>
      </p:pic>
      <p:sp>
        <p:nvSpPr>
          <p:cNvPr id="26" name="text-184"/>
          <p:cNvSpPr txBox="1"/>
          <p:nvPr/>
        </p:nvSpPr>
        <p:spPr>
          <a:xfrm>
            <a:off x="7183984" y="3931920"/>
            <a:ext cx="425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content</a:t>
            </a:r>
            <a:endParaRPr lang="en-US" sz="1900" dirty="0"/>
          </a:p>
        </p:txBody>
      </p:sp>
      <p:sp>
        <p:nvSpPr>
          <p:cNvPr id="27" name="text-185"/>
          <p:cNvSpPr txBox="1"/>
          <p:nvPr/>
        </p:nvSpPr>
        <p:spPr>
          <a:xfrm>
            <a:off x="6452464" y="4663440"/>
            <a:ext cx="49894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Every event, test, deck and file, with Delete.</a:t>
            </a:r>
            <a:endParaRPr lang="en-US" sz="1600" dirty="0"/>
          </a:p>
        </p:txBody>
      </p:sp>
      <p:sp>
        <p:nvSpPr>
          <p:cNvPr id="28" name="text-186"/>
          <p:cNvSpPr txBox="1"/>
          <p:nvPr/>
        </p:nvSpPr>
        <p:spPr>
          <a:xfrm>
            <a:off x="548640" y="55778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Every role change, ban and removal is recorded in the Admin log.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474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GO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21792"/>
            <a:ext cx="9692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rules</a:t>
            </a:r>
            <a:endParaRPr lang="en-US" sz="3400" dirty="0"/>
          </a:p>
        </p:txBody>
      </p:sp>
      <p:pic>
        <p:nvPicPr>
          <p:cNvPr id="4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74375" y="292608"/>
            <a:ext cx="868680" cy="817195"/>
          </a:xfrm>
          <a:prstGeom prst="rect">
            <a:avLst/>
          </a:prstGeom>
        </p:spPr>
      </p:pic>
      <p:sp>
        <p:nvSpPr>
          <p:cNvPr id="5" name="!!ecg"/>
          <p:cNvSpPr/>
          <p:nvPr/>
        </p:nvSpPr>
        <p:spPr>
          <a:xfrm>
            <a:off x="9265615" y="6345936"/>
            <a:ext cx="1554480" cy="329184"/>
          </a:xfrm>
          <a:custGeom>
            <a:avLst/>
            <a:gdLst/>
            <a:ahLst/>
            <a:cxnLst/>
            <a:rect l="l" t="t" r="r" b="b"/>
            <a:pathLst>
              <a:path w="1554480" h="329184">
                <a:moveTo>
                  <a:pt x="0" y="204094"/>
                </a:moveTo>
                <a:lnTo>
                  <a:pt x="466344" y="204094"/>
                </a:lnTo>
                <a:lnTo>
                  <a:pt x="528523" y="171176"/>
                </a:lnTo>
                <a:lnTo>
                  <a:pt x="590702" y="204094"/>
                </a:lnTo>
                <a:lnTo>
                  <a:pt x="683971" y="204094"/>
                </a:lnTo>
                <a:lnTo>
                  <a:pt x="730606" y="243596"/>
                </a:lnTo>
                <a:lnTo>
                  <a:pt x="792785" y="6584"/>
                </a:lnTo>
                <a:lnTo>
                  <a:pt x="862736" y="329184"/>
                </a:lnTo>
                <a:lnTo>
                  <a:pt x="917143" y="204094"/>
                </a:lnTo>
                <a:lnTo>
                  <a:pt x="1025957" y="204094"/>
                </a:lnTo>
                <a:lnTo>
                  <a:pt x="1103681" y="144841"/>
                </a:lnTo>
                <a:lnTo>
                  <a:pt x="1196950" y="204094"/>
                </a:lnTo>
                <a:lnTo>
                  <a:pt x="1554480" y="204094"/>
                </a:lnTo>
              </a:path>
            </a:pathLst>
          </a:custGeom>
          <a:ln w="19050">
            <a:solidFill>
              <a:schemeClr val="accent3"/>
            </a:solidFill>
            <a:prstDash val="solid"/>
          </a:ln>
        </p:spPr>
      </p:sp>
      <p:sp>
        <p:nvSpPr>
          <p:cNvPr id="6" name="box-187"/>
          <p:cNvSpPr/>
          <p:nvPr/>
        </p:nvSpPr>
        <p:spPr>
          <a:xfrm>
            <a:off x="548640" y="1783080"/>
            <a:ext cx="5446624" cy="18745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7" name="tile-188"/>
          <p:cNvSpPr/>
          <p:nvPr/>
        </p:nvSpPr>
        <p:spPr>
          <a:xfrm>
            <a:off x="804672" y="2039112"/>
            <a:ext cx="566928" cy="566928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8" name="icon-189" descr="KeyRound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96" y="2163836"/>
            <a:ext cx="317480" cy="317480"/>
          </a:xfrm>
          <a:prstGeom prst="rect">
            <a:avLst/>
          </a:prstGeom>
        </p:spPr>
      </p:pic>
      <p:sp>
        <p:nvSpPr>
          <p:cNvPr id="9" name="text-190"/>
          <p:cNvSpPr txBox="1"/>
          <p:nvPr/>
        </p:nvSpPr>
        <p:spPr>
          <a:xfrm>
            <a:off x="1536192" y="2039112"/>
            <a:ext cx="425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make accounts for people</a:t>
            </a:r>
            <a:endParaRPr lang="en-US" sz="1900" dirty="0"/>
          </a:p>
        </p:txBody>
      </p:sp>
      <p:sp>
        <p:nvSpPr>
          <p:cNvPr id="10" name="text-191"/>
          <p:cNvSpPr txBox="1"/>
          <p:nvPr/>
        </p:nvSpPr>
        <p:spPr>
          <a:xfrm>
            <a:off x="804672" y="2770632"/>
            <a:ext cx="498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Members sign up themselves. Never handle anyone's password.</a:t>
            </a:r>
            <a:endParaRPr lang="en-US" sz="1600" dirty="0"/>
          </a:p>
        </p:txBody>
      </p:sp>
      <p:sp>
        <p:nvSpPr>
          <p:cNvPr id="11" name="box-192"/>
          <p:cNvSpPr/>
          <p:nvPr/>
        </p:nvSpPr>
        <p:spPr>
          <a:xfrm>
            <a:off x="6196432" y="1783080"/>
            <a:ext cx="5446624" cy="18745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2" name="tile-193"/>
          <p:cNvSpPr/>
          <p:nvPr/>
        </p:nvSpPr>
        <p:spPr>
          <a:xfrm>
            <a:off x="6452464" y="2039112"/>
            <a:ext cx="566928" cy="566928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3" name="icon-194" descr="Lock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188" y="2163836"/>
            <a:ext cx="317480" cy="317480"/>
          </a:xfrm>
          <a:prstGeom prst="rect">
            <a:avLst/>
          </a:prstGeom>
        </p:spPr>
      </p:pic>
      <p:sp>
        <p:nvSpPr>
          <p:cNvPr id="14" name="text-195"/>
          <p:cNvSpPr txBox="1"/>
          <p:nvPr/>
        </p:nvSpPr>
        <p:spPr>
          <a:xfrm>
            <a:off x="7183984" y="2039112"/>
            <a:ext cx="425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chapter code</a:t>
            </a:r>
            <a:endParaRPr lang="en-US" sz="1900" dirty="0"/>
          </a:p>
        </p:txBody>
      </p:sp>
      <p:sp>
        <p:nvSpPr>
          <p:cNvPr id="15" name="text-196"/>
          <p:cNvSpPr txBox="1"/>
          <p:nvPr/>
        </p:nvSpPr>
        <p:spPr>
          <a:xfrm>
            <a:off x="6452464" y="2770632"/>
            <a:ext cx="498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Turn it on when recruiting so only real members get in.</a:t>
            </a:r>
            <a:endParaRPr lang="en-US" sz="1600" dirty="0"/>
          </a:p>
        </p:txBody>
      </p:sp>
      <p:sp>
        <p:nvSpPr>
          <p:cNvPr id="16" name="box-197"/>
          <p:cNvSpPr/>
          <p:nvPr/>
        </p:nvSpPr>
        <p:spPr>
          <a:xfrm>
            <a:off x="548640" y="3858768"/>
            <a:ext cx="5446624" cy="1874520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17" name="tile-198"/>
          <p:cNvSpPr/>
          <p:nvPr/>
        </p:nvSpPr>
        <p:spPr>
          <a:xfrm>
            <a:off x="804672" y="4114800"/>
            <a:ext cx="566928" cy="566928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18" name="icon-199" descr="EyeOff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396" y="4239524"/>
            <a:ext cx="317480" cy="317480"/>
          </a:xfrm>
          <a:prstGeom prst="rect">
            <a:avLst/>
          </a:prstGeom>
        </p:spPr>
      </p:pic>
      <p:sp>
        <p:nvSpPr>
          <p:cNvPr id="19" name="text-200"/>
          <p:cNvSpPr txBox="1"/>
          <p:nvPr/>
        </p:nvSpPr>
        <p:spPr>
          <a:xfrm>
            <a:off x="1536192" y="4114800"/>
            <a:ext cx="425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mock exams honest</a:t>
            </a:r>
            <a:endParaRPr lang="en-US" sz="1900" dirty="0"/>
          </a:p>
        </p:txBody>
      </p:sp>
      <p:sp>
        <p:nvSpPr>
          <p:cNvPr id="20" name="text-201"/>
          <p:cNvSpPr txBox="1"/>
          <p:nvPr/>
        </p:nvSpPr>
        <p:spPr>
          <a:xfrm>
            <a:off x="804672" y="4846320"/>
            <a:ext cx="498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Hide correct answers and allow 1 attempt for anything that counts.</a:t>
            </a:r>
            <a:endParaRPr lang="en-US" sz="1600" dirty="0"/>
          </a:p>
        </p:txBody>
      </p:sp>
      <p:sp>
        <p:nvSpPr>
          <p:cNvPr id="21" name="box-202"/>
          <p:cNvSpPr/>
          <p:nvPr/>
        </p:nvSpPr>
        <p:spPr>
          <a:xfrm>
            <a:off x="6196432" y="3858768"/>
            <a:ext cx="5446624" cy="1874520"/>
          </a:xfrm>
          <a:prstGeom prst="rect">
            <a:avLst/>
          </a:prstGeom>
          <a:solidFill>
            <a:schemeClr val="tx2"/>
          </a:solidFill>
          <a:ln w="28575">
            <a:solidFill>
              <a:schemeClr val="tx1"/>
            </a:solidFill>
            <a:prstDash val="solid"/>
          </a:ln>
        </p:spPr>
      </p:sp>
      <p:sp>
        <p:nvSpPr>
          <p:cNvPr id="22" name="tile-203"/>
          <p:cNvSpPr/>
          <p:nvPr/>
        </p:nvSpPr>
        <p:spPr>
          <a:xfrm>
            <a:off x="6452464" y="4114800"/>
            <a:ext cx="566928" cy="566928"/>
          </a:xfrm>
          <a:prstGeom prst="rect">
            <a:avLst/>
          </a:prstGeom>
          <a:solidFill>
            <a:schemeClr val="accent1"/>
          </a:solidFill>
          <a:ln/>
        </p:spPr>
      </p:sp>
      <p:pic>
        <p:nvPicPr>
          <p:cNvPr id="23" name="icon-204" descr="TriangleAlert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7188" y="4239524"/>
            <a:ext cx="317480" cy="317480"/>
          </a:xfrm>
          <a:prstGeom prst="rect">
            <a:avLst/>
          </a:prstGeom>
        </p:spPr>
      </p:pic>
      <p:sp>
        <p:nvSpPr>
          <p:cNvPr id="24" name="text-205"/>
          <p:cNvSpPr txBox="1"/>
          <p:nvPr/>
        </p:nvSpPr>
        <p:spPr>
          <a:xfrm>
            <a:off x="7183984" y="4114800"/>
            <a:ext cx="42579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Deleting is for good</a:t>
            </a:r>
            <a:endParaRPr lang="en-US" sz="1900" dirty="0"/>
          </a:p>
        </p:txBody>
      </p:sp>
      <p:sp>
        <p:nvSpPr>
          <p:cNvPr id="25" name="text-206"/>
          <p:cNvSpPr txBox="1"/>
          <p:nvPr/>
        </p:nvSpPr>
        <p:spPr>
          <a:xfrm>
            <a:off x="6452464" y="4846320"/>
            <a:ext cx="49894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Deleting a test wipes everyone's attempts. There's no undo.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logo" descr="HOSA Bayview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822960"/>
            <a:ext cx="4846320" cy="4559085"/>
          </a:xfrm>
          <a:prstGeom prst="rect">
            <a:avLst/>
          </a:prstGeom>
        </p:spPr>
      </p:pic>
      <p:sp>
        <p:nvSpPr>
          <p:cNvPr id="3" name="text-207"/>
          <p:cNvSpPr txBox="1"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 THE DEMO</a:t>
            </a:r>
            <a:endParaRPr lang="en-US" sz="1400" dirty="0"/>
          </a:p>
        </p:txBody>
      </p:sp>
      <p:sp>
        <p:nvSpPr>
          <p:cNvPr id="4" name="text-208"/>
          <p:cNvSpPr txBox="1"/>
          <p:nvPr/>
        </p:nvSpPr>
        <p:spPr>
          <a:xfrm>
            <a:off x="640080" y="18745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click around</a:t>
            </a:r>
            <a:endParaRPr lang="en-US" sz="4800" dirty="0"/>
          </a:p>
        </p:txBody>
      </p:sp>
      <p:sp>
        <p:nvSpPr>
          <p:cNvPr id="5" name="text-209"/>
          <p:cNvSpPr txBox="1"/>
          <p:nvPr/>
        </p:nvSpPr>
        <p:spPr>
          <a:xfrm>
            <a:off x="640080" y="292608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Open the site on your phone or laptop and follow along.</a:t>
            </a:r>
            <a:endParaRPr lang="en-US" sz="1800" dirty="0"/>
          </a:p>
        </p:txBody>
      </p:sp>
      <p:sp>
        <p:nvSpPr>
          <p:cNvPr id="6" name="url-210"/>
          <p:cNvSpPr/>
          <p:nvPr/>
        </p:nvSpPr>
        <p:spPr>
          <a:xfrm>
            <a:off x="640080" y="4069080"/>
            <a:ext cx="3291840" cy="6400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-211">
            <a:hlinkClick r:id="rId2" tooltip=""/>
          </p:cNvPr>
          <p:cNvSpPr txBox="1"/>
          <p:nvPr/>
        </p:nvSpPr>
        <p:spPr>
          <a:xfrm>
            <a:off x="640080" y="4069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hosabayview.com</a:t>
            </a:r>
            <a:endParaRPr lang="en-US" sz="2000" dirty="0"/>
          </a:p>
        </p:txBody>
      </p:sp>
      <p:sp>
        <p:nvSpPr>
          <p:cNvPr id="8" name="!!ecg"/>
          <p:cNvSpPr/>
          <p:nvPr/>
        </p:nvSpPr>
        <p:spPr>
          <a:xfrm>
            <a:off x="0" y="5715000"/>
            <a:ext cx="12191695" cy="822960"/>
          </a:xfrm>
          <a:custGeom>
            <a:avLst/>
            <a:gdLst/>
            <a:ahLst/>
            <a:cxnLst/>
            <a:rect l="l" t="t" r="r" b="b"/>
            <a:pathLst>
              <a:path w="12191695" h="822960">
                <a:moveTo>
                  <a:pt x="0" y="510235"/>
                </a:moveTo>
                <a:lnTo>
                  <a:pt x="3657509" y="510235"/>
                </a:lnTo>
                <a:lnTo>
                  <a:pt x="4145176" y="427939"/>
                </a:lnTo>
                <a:lnTo>
                  <a:pt x="4632844" y="510235"/>
                </a:lnTo>
                <a:lnTo>
                  <a:pt x="5364346" y="510235"/>
                </a:lnTo>
                <a:lnTo>
                  <a:pt x="5730097" y="608990"/>
                </a:lnTo>
                <a:lnTo>
                  <a:pt x="6217765" y="16459"/>
                </a:lnTo>
                <a:lnTo>
                  <a:pt x="6766391" y="822960"/>
                </a:lnTo>
                <a:lnTo>
                  <a:pt x="7193100" y="510235"/>
                </a:lnTo>
                <a:lnTo>
                  <a:pt x="8046519" y="510235"/>
                </a:lnTo>
                <a:lnTo>
                  <a:pt x="8656104" y="362102"/>
                </a:lnTo>
                <a:lnTo>
                  <a:pt x="9387605" y="510235"/>
                </a:lnTo>
                <a:lnTo>
                  <a:pt x="12191695" y="510235"/>
                </a:lnTo>
              </a:path>
            </a:pathLst>
          </a:custGeom>
          <a:ln w="38100">
            <a:solidFill>
              <a:schemeClr val="accent2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2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HOSA Bayview">
  <a:themeElements>
    <a:clrScheme name="HOSA Bayview">
      <a:dk1>
        <a:srgbClr val="0F2440"/>
      </a:dk1>
      <a:lt1>
        <a:srgbClr val="FFFFFF"/>
      </a:lt1>
      <a:dk2>
        <a:srgbClr val="1E3D62"/>
      </a:dk2>
      <a:lt2>
        <a:srgbClr val="E8F2FA"/>
      </a:lt2>
      <a:accent1>
        <a:srgbClr val="7A1F2B"/>
      </a:accent1>
      <a:accent2>
        <a:srgbClr val="28507D"/>
      </a:accent2>
      <a:accent3>
        <a:srgbClr val="5B7896"/>
      </a:accent3>
      <a:accent4>
        <a:srgbClr val="D6E6F3"/>
      </a:accent4>
      <a:accent5>
        <a:srgbClr val="1D5E3A"/>
      </a:accent5>
      <a:accent6>
        <a:srgbClr val="33506F"/>
      </a:accent6>
      <a:hlink>
        <a:srgbClr val="7A1F2B"/>
      </a:hlink>
      <a:folHlink>
        <a:srgbClr val="33506F"/>
      </a:folHlink>
    </a:clrScheme>
    <a:fontScheme name="HOSA Bayvie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HOSA Bayview: admin guide</dc:title>
  <dc:subject>PptxGenJS Presentation</dc:subject>
  <dc:creator>HOSA Bayview</dc:creator>
  <cp:lastModifiedBy>HOSA Bayview</cp:lastModifiedBy>
  <cp:revision>1</cp:revision>
  <dcterms:created xsi:type="dcterms:W3CDTF">2026-10-12T02:54:33Z</dcterms:created>
  <dcterms:modified xsi:type="dcterms:W3CDTF">2026-10-12T02:54:33Z</dcterms:modified>
</cp:coreProperties>
</file>